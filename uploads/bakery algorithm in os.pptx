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68" r:id="rId5"/>
    <p:sldId id="270" r:id="rId6"/>
    <p:sldId id="269"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32" autoAdjust="0"/>
  </p:normalViewPr>
  <p:slideViewPr>
    <p:cSldViewPr snapToGrid="0">
      <p:cViewPr varScale="1">
        <p:scale>
          <a:sx n="53" d="100"/>
          <a:sy n="53" d="100"/>
        </p:scale>
        <p:origin x="8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132822-FE40-41E6-96E1-37532FC9E5B5}"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2615734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132822-FE40-41E6-96E1-37532FC9E5B5}"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1640039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8132822-FE40-41E6-96E1-37532FC9E5B5}"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2288463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8132822-FE40-41E6-96E1-37532FC9E5B5}" type="datetimeFigureOut">
              <a:rPr lang="en-US" smtClean="0"/>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1549298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8132822-FE40-41E6-96E1-37532FC9E5B5}" type="datetimeFigureOut">
              <a:rPr lang="en-US" smtClean="0"/>
              <a:t>11/3/2023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177943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8132822-FE40-41E6-96E1-37532FC9E5B5}" type="datetimeFigureOut">
              <a:rPr lang="en-US" smtClean="0"/>
              <a:t>11/3/2023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1274426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132822-FE40-41E6-96E1-37532FC9E5B5}" type="datetimeFigureOut">
              <a:rPr lang="en-US" smtClean="0"/>
              <a:t>11/3/2023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281228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8132822-FE40-41E6-96E1-37532FC9E5B5}" type="datetimeFigureOut">
              <a:rPr lang="en-US" smtClean="0"/>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11161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8132822-FE40-41E6-96E1-37532FC9E5B5}" type="datetimeFigureOut">
              <a:rPr lang="en-US" smtClean="0"/>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242680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132822-FE40-41E6-96E1-37532FC9E5B5}"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2635915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132822-FE40-41E6-96E1-37532FC9E5B5}"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B09575-78DB-47BC-858F-756DB3B4AD1E}" type="slidenum">
              <a:rPr lang="en-US" smtClean="0"/>
              <a:t>‹#›</a:t>
            </a:fld>
            <a:endParaRPr lang="en-US"/>
          </a:p>
        </p:txBody>
      </p:sp>
    </p:spTree>
    <p:extLst>
      <p:ext uri="{BB962C8B-B14F-4D97-AF65-F5344CB8AC3E}">
        <p14:creationId xmlns:p14="http://schemas.microsoft.com/office/powerpoint/2010/main" val="158593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132822-FE40-41E6-96E1-37532FC9E5B5}" type="datetimeFigureOut">
              <a:rPr lang="en-US" smtClean="0"/>
              <a:t>11/3/2023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B09575-78DB-47BC-858F-756DB3B4AD1E}" type="slidenum">
              <a:rPr lang="en-US" smtClean="0"/>
              <a:t>‹#›</a:t>
            </a:fld>
            <a:endParaRPr lang="en-US"/>
          </a:p>
        </p:txBody>
      </p:sp>
    </p:spTree>
    <p:extLst>
      <p:ext uri="{BB962C8B-B14F-4D97-AF65-F5344CB8AC3E}">
        <p14:creationId xmlns:p14="http://schemas.microsoft.com/office/powerpoint/2010/main" val="3796464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Concurrent_computing" TargetMode="External"/><Relationship Id="rId3" Type="http://schemas.openxmlformats.org/officeDocument/2006/relationships/hyperlink" Target="https://en.wikipedia.org/wiki/Software_design_pattern" TargetMode="External"/><Relationship Id="rId7" Type="http://schemas.openxmlformats.org/officeDocument/2006/relationships/hyperlink" Target="https://en.wikipedia.org/wiki/Task_(computers)" TargetMode="External"/><Relationship Id="rId2" Type="http://schemas.openxmlformats.org/officeDocument/2006/relationships/hyperlink" Target="https://en.wikipedia.org/wiki/Computer_programming" TargetMode="External"/><Relationship Id="rId1" Type="http://schemas.openxmlformats.org/officeDocument/2006/relationships/slideLayout" Target="../slideLayouts/slideLayout1.xml"/><Relationship Id="rId6" Type="http://schemas.openxmlformats.org/officeDocument/2006/relationships/hyperlink" Target="https://en.wikipedia.org/wiki/Thread_(computer_science)" TargetMode="External"/><Relationship Id="rId5" Type="http://schemas.openxmlformats.org/officeDocument/2006/relationships/hyperlink" Target="https://en.wikipedia.org/wiki/Thread_pool#cite_note-1" TargetMode="External"/><Relationship Id="rId4" Type="http://schemas.openxmlformats.org/officeDocument/2006/relationships/hyperlink" Target="https://en.wikipedia.org/wiki/Concurrency_(computer_science)" TargetMode="External"/><Relationship Id="rId9" Type="http://schemas.openxmlformats.org/officeDocument/2006/relationships/hyperlink" Target="https://en.wikipedia.org/wiki/Thread_pool#cite_note-2"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Performance_tuning" TargetMode="External"/><Relationship Id="rId2" Type="http://schemas.openxmlformats.org/officeDocument/2006/relationships/hyperlink" Target="https://en.wikipedia.org/wiki/Thread_pool#cite_note-ACM,_Thread_pool_size-3" TargetMode="External"/><Relationship Id="rId1" Type="http://schemas.openxmlformats.org/officeDocument/2006/relationships/slideLayout" Target="../slideLayouts/slideLayout7.xml"/><Relationship Id="rId6" Type="http://schemas.openxmlformats.org/officeDocument/2006/relationships/hyperlink" Target="https://en.wikipedia.org/wiki/Thread_pool#cite_note-5" TargetMode="External"/><Relationship Id="rId5" Type="http://schemas.openxmlformats.org/officeDocument/2006/relationships/hyperlink" Target="https://en.wikipedia.org/wiki/Thread_pool#cite_note-4" TargetMode="External"/><Relationship Id="rId4" Type="http://schemas.openxmlformats.org/officeDocument/2006/relationships/hyperlink" Target="https://en.wikipedia.org/wiki/Stability_Model"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Talk:Thread_pool" TargetMode="External"/><Relationship Id="rId3" Type="http://schemas.openxmlformats.org/officeDocument/2006/relationships/hyperlink" Target="https://en.wikipedia.org/wiki/Embarrassingly_parallel" TargetMode="External"/><Relationship Id="rId7" Type="http://schemas.openxmlformats.org/officeDocument/2006/relationships/hyperlink" Target="https://en.wikipedia.org/wiki/Wikipedia:Disputed_statement" TargetMode="External"/><Relationship Id="rId2" Type="http://schemas.openxmlformats.org/officeDocument/2006/relationships/hyperlink" Target="https://en.wikipedia.org/wiki/Server_farm" TargetMode="External"/><Relationship Id="rId1" Type="http://schemas.openxmlformats.org/officeDocument/2006/relationships/slideLayout" Target="../slideLayouts/slideLayout7.xml"/><Relationship Id="rId6" Type="http://schemas.openxmlformats.org/officeDocument/2006/relationships/hyperlink" Target="https://en.wikipedia.org/wiki/Web_page" TargetMode="External"/><Relationship Id="rId5" Type="http://schemas.openxmlformats.org/officeDocument/2006/relationships/hyperlink" Target="https://en.wikipedia.org/wiki/Web_server" TargetMode="External"/><Relationship Id="rId4" Type="http://schemas.openxmlformats.org/officeDocument/2006/relationships/hyperlink" Target="https://en.wikipedia.org/wiki/Wikipedia:Citation_need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thread-control-block-in-operating-system/"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kernel-level-threads-in-operating-system/" TargetMode="External"/><Relationship Id="rId2" Type="http://schemas.openxmlformats.org/officeDocument/2006/relationships/hyperlink" Target="https://www.geeksforgeeks.org/threads-and-its-types-in-operating-system/" TargetMode="Externa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hyperlink" Target="https://www.geeksforgeeks.org/context-switch-in-operating-syste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1141866"/>
          </a:xfrm>
        </p:spPr>
        <p:txBody>
          <a:bodyPr>
            <a:normAutofit/>
          </a:bodyPr>
          <a:lstStyle/>
          <a:p>
            <a:r>
              <a:rPr lang="en-US" b="1" dirty="0"/>
              <a:t>Bakery Algorithm </a:t>
            </a:r>
            <a:r>
              <a:rPr lang="en-US" b="1" dirty="0" smtClean="0"/>
              <a:t>in </a:t>
            </a:r>
            <a:r>
              <a:rPr lang="en-US" b="1" dirty="0" err="1" smtClean="0"/>
              <a:t>os</a:t>
            </a:r>
            <a:endParaRPr lang="en-US" dirty="0"/>
          </a:p>
        </p:txBody>
      </p:sp>
      <p:sp>
        <p:nvSpPr>
          <p:cNvPr id="3" name="Subtitle 2"/>
          <p:cNvSpPr>
            <a:spLocks noGrp="1"/>
          </p:cNvSpPr>
          <p:nvPr>
            <p:ph type="subTitle" idx="1"/>
          </p:nvPr>
        </p:nvSpPr>
        <p:spPr>
          <a:xfrm>
            <a:off x="1523999" y="2264230"/>
            <a:ext cx="9562011" cy="4032067"/>
          </a:xfrm>
        </p:spPr>
        <p:txBody>
          <a:bodyPr>
            <a:normAutofit/>
          </a:bodyPr>
          <a:lstStyle/>
          <a:p>
            <a:pPr fontAlgn="base"/>
            <a:r>
              <a:rPr lang="en-US" b="1" dirty="0"/>
              <a:t>Bakery algorithm</a:t>
            </a:r>
            <a:r>
              <a:rPr lang="en-US" dirty="0"/>
              <a:t> is one of the simplest known solutions to the mutual exclusion problem for the general case of N process. Bakery Algorithm is a critical section solution for </a:t>
            </a:r>
            <a:r>
              <a:rPr lang="en-US" b="1" dirty="0"/>
              <a:t>N</a:t>
            </a:r>
            <a:r>
              <a:rPr lang="en-US" dirty="0"/>
              <a:t> processes. The algorithm preserves the first come first serve property.</a:t>
            </a:r>
          </a:p>
          <a:p>
            <a:pPr fontAlgn="base"/>
            <a:r>
              <a:rPr lang="en-US" b="1" u="sng" dirty="0"/>
              <a:t>How does the Bakery Algorithm work?</a:t>
            </a:r>
            <a:r>
              <a:rPr lang="en-US" u="sng" dirty="0"/>
              <a:t/>
            </a:r>
            <a:br>
              <a:rPr lang="en-US" u="sng" dirty="0"/>
            </a:br>
            <a:r>
              <a:rPr lang="en-US" dirty="0"/>
              <a:t>In the Bakery Algorithm, each process is assigned a number (a ticket) in a lexicographical order. Before entering the critical section, a process receives a ticket number, and the process with the smallest ticket number enters the critical section. If two processes receive the same ticket number, the process with the lower process ID is given priority.</a:t>
            </a:r>
          </a:p>
          <a:p>
            <a:endParaRPr lang="en-US" dirty="0" smtClean="0"/>
          </a:p>
        </p:txBody>
      </p:sp>
    </p:spTree>
    <p:extLst>
      <p:ext uri="{BB962C8B-B14F-4D97-AF65-F5344CB8AC3E}">
        <p14:creationId xmlns:p14="http://schemas.microsoft.com/office/powerpoint/2010/main" val="17381991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39904" y="0"/>
            <a:ext cx="11852096" cy="79098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smtClean="0">
                <a:ln>
                  <a:noFill/>
                </a:ln>
                <a:solidFill>
                  <a:srgbClr val="273239"/>
                </a:solidFill>
                <a:effectLst/>
                <a:latin typeface="Nunito"/>
              </a:rPr>
              <a:t>How does the Bakery Algorithm ensure fairness?</a:t>
            </a:r>
            <a:r>
              <a:rPr kumimoji="0" lang="en-US" altLang="en-US" b="0" i="0" u="sng" strike="noStrike" cap="none" normalizeH="0" baseline="0" dirty="0" smtClean="0">
                <a:ln>
                  <a:noFill/>
                </a:ln>
                <a:solidFill>
                  <a:srgbClr val="273239"/>
                </a:solidFill>
                <a:effectLst/>
                <a:latin typeface="Nunito"/>
              </a:rPr>
              <a:t/>
            </a:r>
            <a:br>
              <a:rPr kumimoji="0" lang="en-US" altLang="en-US" b="0" i="0" u="sng" strike="noStrike" cap="none" normalizeH="0" baseline="0" dirty="0" smtClean="0">
                <a:ln>
                  <a:noFill/>
                </a:ln>
                <a:solidFill>
                  <a:srgbClr val="273239"/>
                </a:solidFill>
                <a:effectLst/>
                <a:latin typeface="Nunito"/>
              </a:rPr>
            </a:br>
            <a:r>
              <a:rPr kumimoji="0" lang="en-US" altLang="en-US" b="0" i="0" u="none" strike="noStrike" cap="none" normalizeH="0" baseline="0" dirty="0" smtClean="0">
                <a:ln>
                  <a:noFill/>
                </a:ln>
                <a:solidFill>
                  <a:srgbClr val="273239"/>
                </a:solidFill>
                <a:effectLst/>
                <a:latin typeface="Nunito"/>
              </a:rPr>
              <a:t>The Bakery Algorithm ensures fairness by assigning a unique ticket number to each process based on a lexicographical order.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273239"/>
                </a:solidFill>
                <a:effectLst/>
                <a:latin typeface="Nunito"/>
              </a:rPr>
              <a:t> This ensures that processes are served in the order they arrive, which guarantees that all processes will eventually enter the critical section.</a:t>
            </a: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273239"/>
                </a:solidFill>
                <a:effectLst/>
                <a:latin typeface="Nunito"/>
              </a:rPr>
              <a:t>Before entering its critical section, the process receives a number. Holder of the smallest number enters the critical section.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273239"/>
                </a:solidFill>
                <a:effectLst/>
                <a:latin typeface="Nunito"/>
              </a:rPr>
              <a:t>If processes Pi and </a:t>
            </a:r>
            <a:r>
              <a:rPr kumimoji="0" lang="en-US" altLang="en-US" b="0" i="0" u="none" strike="noStrike" cap="none" normalizeH="0" baseline="0" dirty="0" err="1" smtClean="0">
                <a:ln>
                  <a:noFill/>
                </a:ln>
                <a:solidFill>
                  <a:srgbClr val="273239"/>
                </a:solidFill>
                <a:effectLst/>
                <a:latin typeface="Nunito"/>
              </a:rPr>
              <a:t>Pj</a:t>
            </a:r>
            <a:r>
              <a:rPr kumimoji="0" lang="en-US" altLang="en-US" b="0" i="0" u="none" strike="noStrike" cap="none" normalizeH="0" baseline="0" dirty="0" smtClean="0">
                <a:ln>
                  <a:noFill/>
                </a:ln>
                <a:solidFill>
                  <a:srgbClr val="273239"/>
                </a:solidFill>
                <a:effectLst/>
                <a:latin typeface="Nunito"/>
              </a:rPr>
              <a:t> receive the same number,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273239"/>
                </a:solidFill>
                <a:effectLst/>
                <a:latin typeface="Consolas" panose="020B0609020204030204" pitchFamily="49" charset="0"/>
              </a:rPr>
              <a:t>if </a:t>
            </a:r>
            <a:r>
              <a:rPr kumimoji="0" lang="en-US" altLang="en-US" b="0" i="0" u="none" strike="noStrike" cap="none" normalizeH="0" baseline="0" dirty="0" err="1" smtClean="0">
                <a:ln>
                  <a:noFill/>
                </a:ln>
                <a:solidFill>
                  <a:srgbClr val="273239"/>
                </a:solidFill>
                <a:effectLst/>
                <a:latin typeface="Consolas" panose="020B0609020204030204" pitchFamily="49" charset="0"/>
              </a:rPr>
              <a:t>i</a:t>
            </a:r>
            <a:r>
              <a:rPr kumimoji="0" lang="en-US" altLang="en-US" b="0" i="0" u="none" strike="noStrike" cap="none" normalizeH="0" baseline="0" dirty="0" smtClean="0">
                <a:ln>
                  <a:noFill/>
                </a:ln>
                <a:solidFill>
                  <a:srgbClr val="273239"/>
                </a:solidFill>
                <a:effectLst/>
                <a:latin typeface="Consolas" panose="020B0609020204030204" pitchFamily="49" charset="0"/>
              </a:rPr>
              <a:t> &lt; j Pi is served first; else </a:t>
            </a:r>
            <a:r>
              <a:rPr kumimoji="0" lang="en-US" altLang="en-US" b="0" i="0" u="none" strike="noStrike" cap="none" normalizeH="0" baseline="0" dirty="0" err="1" smtClean="0">
                <a:ln>
                  <a:noFill/>
                </a:ln>
                <a:solidFill>
                  <a:srgbClr val="273239"/>
                </a:solidFill>
                <a:effectLst/>
                <a:latin typeface="Consolas" panose="020B0609020204030204" pitchFamily="49" charset="0"/>
              </a:rPr>
              <a:t>Pj</a:t>
            </a:r>
            <a:r>
              <a:rPr kumimoji="0" lang="en-US" altLang="en-US" b="0" i="0" u="none" strike="noStrike" cap="none" normalizeH="0" baseline="0" dirty="0" smtClean="0">
                <a:ln>
                  <a:noFill/>
                </a:ln>
                <a:solidFill>
                  <a:srgbClr val="273239"/>
                </a:solidFill>
                <a:effectLst/>
                <a:latin typeface="Consolas" panose="020B0609020204030204" pitchFamily="49" charset="0"/>
              </a:rPr>
              <a:t> is served first.</a:t>
            </a:r>
            <a:endParaRPr kumimoji="0" lang="en-US" altLang="en-US"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273239"/>
                </a:solidFill>
                <a:effectLst/>
                <a:latin typeface="Nunito"/>
              </a:rPr>
              <a:t>The numbering scheme always generates numbers in increasing order of enumeration; i.e., 1, 2, 3, 3, 3, 3, 4, 5, …</a:t>
            </a:r>
          </a:p>
          <a:p>
            <a:pPr lvl="0" eaLnBrk="0" fontAlgn="base" hangingPunct="0">
              <a:spcBef>
                <a:spcPct val="0"/>
              </a:spcBef>
              <a:spcAft>
                <a:spcPct val="0"/>
              </a:spcAft>
            </a:pPr>
            <a:r>
              <a:rPr lang="en-US" altLang="en-US" dirty="0">
                <a:solidFill>
                  <a:srgbClr val="273239"/>
                </a:solidFill>
                <a:latin typeface="Consolas" panose="020B0609020204030204" pitchFamily="49" charset="0"/>
              </a:rPr>
              <a:t>– (a, b) &lt; (c, d) if a &lt; c or if a = c and b &lt; d – max(a [0], . . ., a [n-1]) is a number, k, such that k &gt;= a[</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for </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 0, . . ., n - 1</a:t>
            </a:r>
            <a:endParaRPr kumimoji="0" lang="en-US" altLang="en-US" sz="1050" b="0" i="0" u="none" strike="noStrike" cap="none" normalizeH="0" baseline="0" dirty="0" smtClean="0">
              <a:ln>
                <a:noFill/>
              </a:ln>
              <a:solidFill>
                <a:schemeClr val="tx1"/>
              </a:solidFill>
              <a:effectLst/>
            </a:endParaRPr>
          </a:p>
          <a:p>
            <a:pPr eaLnBrk="0" fontAlgn="base" hangingPunct="0">
              <a:spcBef>
                <a:spcPct val="0"/>
              </a:spcBef>
              <a:spcAft>
                <a:spcPct val="0"/>
              </a:spcAft>
            </a:pPr>
            <a:r>
              <a:rPr lang="en-US" altLang="en-US" dirty="0">
                <a:solidFill>
                  <a:srgbClr val="273239"/>
                </a:solidFill>
                <a:latin typeface="Nunito"/>
              </a:rPr>
              <a:t>Shared data – choosing is an array [0..n – 1] of </a:t>
            </a:r>
            <a:r>
              <a:rPr lang="en-US" altLang="en-US" dirty="0" err="1">
                <a:solidFill>
                  <a:srgbClr val="273239"/>
                </a:solidFill>
                <a:latin typeface="Nunito"/>
              </a:rPr>
              <a:t>boolean</a:t>
            </a:r>
            <a:r>
              <a:rPr lang="en-US" altLang="en-US" dirty="0">
                <a:solidFill>
                  <a:srgbClr val="273239"/>
                </a:solidFill>
                <a:latin typeface="Nunito"/>
              </a:rPr>
              <a:t> values; &amp; number is an array [0..n – 1] of integer values. Both are initialized to </a:t>
            </a:r>
            <a:r>
              <a:rPr lang="en-US" altLang="en-US" b="1" dirty="0">
                <a:solidFill>
                  <a:srgbClr val="273239"/>
                </a:solidFill>
                <a:latin typeface="Nunito"/>
              </a:rPr>
              <a:t>False &amp; Zero</a:t>
            </a:r>
            <a:r>
              <a:rPr lang="en-US" altLang="en-US" dirty="0">
                <a:solidFill>
                  <a:srgbClr val="273239"/>
                </a:solidFill>
                <a:latin typeface="Nunito"/>
              </a:rPr>
              <a:t> respectively. </a:t>
            </a:r>
            <a:r>
              <a:rPr lang="en-US" altLang="en-US" b="1" dirty="0">
                <a:solidFill>
                  <a:srgbClr val="273239"/>
                </a:solidFill>
                <a:latin typeface="Nunito"/>
              </a:rPr>
              <a:t>Algorithm Pseudocode </a:t>
            </a:r>
            <a:r>
              <a:rPr lang="en-US" altLang="en-US" b="1" dirty="0" smtClean="0">
                <a:solidFill>
                  <a:srgbClr val="273239"/>
                </a:solidFill>
                <a:latin typeface="Nunito"/>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repeat </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choosing[</a:t>
            </a:r>
            <a:r>
              <a:rPr lang="en-US" altLang="en-US" dirty="0" err="1" smtClean="0">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 true</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number[</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 max(number[0], number[1], ..., number[n - 1])+1</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choosing[</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 false</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for j := 0 to n - 1 do begin while choosing[j] do no-op</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while number[j] != 0 and (number[j], j) &lt; (number[</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do no-op</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end</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critical section number[</a:t>
            </a:r>
            <a:r>
              <a:rPr lang="en-US" altLang="en-US" dirty="0" err="1">
                <a:solidFill>
                  <a:srgbClr val="273239"/>
                </a:solidFill>
                <a:latin typeface="Consolas" panose="020B0609020204030204" pitchFamily="49" charset="0"/>
              </a:rPr>
              <a:t>i</a:t>
            </a:r>
            <a:r>
              <a:rPr lang="en-US" altLang="en-US" dirty="0">
                <a:solidFill>
                  <a:srgbClr val="273239"/>
                </a:solidFill>
                <a:latin typeface="Consolas" panose="020B0609020204030204" pitchFamily="49" charset="0"/>
              </a:rPr>
              <a:t>] := 0</a:t>
            </a:r>
            <a:r>
              <a:rPr lang="en-US" altLang="en-US" dirty="0" smtClean="0">
                <a:solidFill>
                  <a:srgbClr val="273239"/>
                </a:solidFill>
                <a:latin typeface="Consolas" panose="020B0609020204030204" pitchFamily="49" charset="0"/>
              </a:rPr>
              <a:t>;</a:t>
            </a:r>
          </a:p>
          <a:p>
            <a:pPr eaLnBrk="0" fontAlgn="base" hangingPunct="0">
              <a:spcBef>
                <a:spcPct val="0"/>
              </a:spcBef>
              <a:spcAft>
                <a:spcPct val="0"/>
              </a:spcAft>
            </a:pPr>
            <a:r>
              <a:rPr lang="en-US" altLang="en-US" dirty="0" smtClean="0">
                <a:solidFill>
                  <a:srgbClr val="273239"/>
                </a:solidFill>
                <a:latin typeface="Consolas" panose="020B0609020204030204" pitchFamily="49" charset="0"/>
              </a:rPr>
              <a:t> </a:t>
            </a:r>
            <a:r>
              <a:rPr lang="en-US" altLang="en-US" dirty="0">
                <a:solidFill>
                  <a:srgbClr val="273239"/>
                </a:solidFill>
                <a:latin typeface="Consolas" panose="020B0609020204030204" pitchFamily="49" charset="0"/>
              </a:rPr>
              <a:t>remainder section until false;</a:t>
            </a:r>
            <a:r>
              <a:rPr kumimoji="0" lang="en-US" altLang="en-US" sz="1050" b="0" i="0" u="none" strike="noStrike" cap="none" normalizeH="0" baseline="0" dirty="0" smtClean="0">
                <a:ln>
                  <a:noFill/>
                </a:ln>
                <a:solidFill>
                  <a:schemeClr val="tx1"/>
                </a:solidFill>
                <a:effectLst/>
              </a:rPr>
              <a:t> </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lvl="0" eaLnBrk="0" fontAlgn="base" hangingPunct="0">
              <a:spcBef>
                <a:spcPct val="0"/>
              </a:spcBef>
              <a:spcAft>
                <a:spcPct val="0"/>
              </a:spcAft>
            </a:pPr>
            <a:endParaRPr lang="en-US" altLang="en-US" b="1" dirty="0" smtClean="0">
              <a:solidFill>
                <a:srgbClr val="273239"/>
              </a:solidFill>
              <a:latin typeface="Nunito"/>
            </a:endParaRPr>
          </a:p>
          <a:p>
            <a:pPr lvl="0" eaLnBrk="0" fontAlgn="base" hangingPunct="0">
              <a:spcBef>
                <a:spcPct val="0"/>
              </a:spcBef>
              <a:spcAft>
                <a:spcPct val="0"/>
              </a:spcAft>
            </a:pPr>
            <a:endParaRPr lang="en-US" altLang="en-US" b="1" dirty="0" smtClean="0">
              <a:solidFill>
                <a:srgbClr val="273239"/>
              </a:solidFill>
              <a:latin typeface="Nunito"/>
            </a:endParaRPr>
          </a:p>
          <a:p>
            <a:pPr lvl="0" eaLnBrk="0" fontAlgn="base" hangingPunct="0">
              <a:spcBef>
                <a:spcPct val="0"/>
              </a:spcBef>
              <a:spcAft>
                <a:spcPct val="0"/>
              </a:spcAft>
            </a:pPr>
            <a:endParaRPr lang="en-US" altLang="en-US" dirty="0">
              <a:solidFill>
                <a:srgbClr val="273239"/>
              </a:solidFill>
              <a:latin typeface="Consolas" panose="020B0609020204030204" pitchFamily="49" charset="0"/>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smtClean="0">
              <a:ln>
                <a:noFill/>
              </a:ln>
              <a:solidFill>
                <a:srgbClr val="273239"/>
              </a:solidFill>
              <a:effectLst/>
              <a:latin typeface="Nuni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1354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6691" y="677453"/>
            <a:ext cx="10289309" cy="3785652"/>
          </a:xfrm>
          <a:prstGeom prst="rect">
            <a:avLst/>
          </a:prstGeom>
        </p:spPr>
        <p:txBody>
          <a:bodyPr wrap="square">
            <a:spAutoFit/>
          </a:bodyPr>
          <a:lstStyle/>
          <a:p>
            <a:r>
              <a:rPr lang="en-US" sz="2000" b="1" i="0" dirty="0" smtClean="0">
                <a:solidFill>
                  <a:srgbClr val="273239"/>
                </a:solidFill>
                <a:effectLst/>
              </a:rPr>
              <a:t>Explanation –</a:t>
            </a:r>
            <a:r>
              <a:rPr lang="en-US" sz="2000" b="0" i="0" dirty="0" smtClean="0">
                <a:solidFill>
                  <a:srgbClr val="273239"/>
                </a:solidFill>
                <a:effectLst/>
              </a:rPr>
              <a:t> Firstly the process sets its “choosing” variable to be TRUE indicating its intent to enter critical section. Then it gets assigned the highest ticket number corresponding to other processes. Then the “choosing” variable is set to FALSE indicating that it now has a new ticket number. This is in-fact the most important and confusing part of the algorithm. It is actually a small critical section in itself ! The very purpose of the first three lines is that if a process is modifying its TICKET value then at that time some other process should not be allowed to check its old ticket value which is now obsolete. This is why inside the for loop before checking ticket value we first make sure that all other processes have the “choosing” variable as FALSE. After that we proceed to check the ticket values of processes where process with least ticket number/process id gets inside the critical section. The exit section just resets the ticket value to zero. </a:t>
            </a:r>
            <a:r>
              <a:rPr lang="en-US" sz="2000" b="1" i="0" dirty="0" smtClean="0">
                <a:solidFill>
                  <a:srgbClr val="273239"/>
                </a:solidFill>
                <a:effectLst/>
              </a:rPr>
              <a:t>Code –</a:t>
            </a:r>
            <a:r>
              <a:rPr lang="en-US" sz="2000" b="0" i="0" dirty="0" smtClean="0">
                <a:solidFill>
                  <a:srgbClr val="273239"/>
                </a:solidFill>
                <a:effectLst/>
              </a:rPr>
              <a:t> Here’s the C code implementation of the Bakery Algorithm. Run the following in a </a:t>
            </a:r>
            <a:r>
              <a:rPr lang="en-US" sz="2000" b="1" i="0" dirty="0" smtClean="0">
                <a:solidFill>
                  <a:srgbClr val="273239"/>
                </a:solidFill>
                <a:effectLst/>
              </a:rPr>
              <a:t>UNIX environment</a:t>
            </a:r>
            <a:r>
              <a:rPr lang="en-US" sz="2000" b="0" i="0" dirty="0" smtClean="0">
                <a:solidFill>
                  <a:srgbClr val="273239"/>
                </a:solidFill>
                <a:effectLst/>
              </a:rPr>
              <a:t> – </a:t>
            </a:r>
            <a:endParaRPr lang="en-US" sz="2000" dirty="0"/>
          </a:p>
        </p:txBody>
      </p:sp>
    </p:spTree>
    <p:extLst>
      <p:ext uri="{BB962C8B-B14F-4D97-AF65-F5344CB8AC3E}">
        <p14:creationId xmlns:p14="http://schemas.microsoft.com/office/powerpoint/2010/main" val="211810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7117959"/>
              </p:ext>
            </p:extLst>
          </p:nvPr>
        </p:nvGraphicFramePr>
        <p:xfrm>
          <a:off x="145144" y="-1074060"/>
          <a:ext cx="12046856" cy="35926209"/>
        </p:xfrm>
        <a:graphic>
          <a:graphicData uri="http://schemas.openxmlformats.org/drawingml/2006/table">
            <a:tbl>
              <a:tblPr/>
              <a:tblGrid>
                <a:gridCol w="12046856">
                  <a:extLst>
                    <a:ext uri="{9D8B030D-6E8A-4147-A177-3AD203B41FA5}">
                      <a16:colId xmlns:a16="http://schemas.microsoft.com/office/drawing/2014/main" val="875525289"/>
                    </a:ext>
                  </a:extLst>
                </a:gridCol>
              </a:tblGrid>
              <a:tr h="35926209">
                <a:tc>
                  <a:txBody>
                    <a:bodyPr/>
                    <a:lstStyle/>
                    <a:p>
                      <a:pPr algn="l" rtl="0" fontAlgn="base"/>
                      <a:r>
                        <a:rPr lang="en-US" sz="1800" b="0" i="0" dirty="0">
                          <a:effectLst/>
                          <a:latin typeface="Consolas" panose="020B0609020204030204" pitchFamily="49" charset="0"/>
                        </a:rPr>
                        <a:t>// Importing the thread library</a:t>
                      </a:r>
                    </a:p>
                    <a:p>
                      <a:pPr algn="l" rtl="0" fontAlgn="base"/>
                      <a:r>
                        <a:rPr lang="en-US" sz="1800" b="0" i="0" dirty="0">
                          <a:effectLst/>
                          <a:latin typeface="Consolas" panose="020B0609020204030204" pitchFamily="49" charset="0"/>
                        </a:rPr>
                        <a:t>#include </a:t>
                      </a:r>
                      <a:r>
                        <a:rPr lang="en-US" sz="200" b="0" i="0" dirty="0">
                          <a:effectLst/>
                          <a:latin typeface="Consolas" panose="020B0609020204030204" pitchFamily="49" charset="0"/>
                        </a:rPr>
                        <a:t>"</a:t>
                      </a:r>
                      <a:r>
                        <a:rPr lang="en-US" sz="1800" b="0" i="0" dirty="0" err="1">
                          <a:effectLst/>
                          <a:latin typeface="Consolas" panose="020B0609020204030204" pitchFamily="49" charset="0"/>
                        </a:rPr>
                        <a:t>pthread.h</a:t>
                      </a:r>
                      <a:r>
                        <a:rPr lang="en-US" sz="1800" b="0" i="0" dirty="0">
                          <a:effectLst/>
                          <a:latin typeface="Consolas" panose="020B0609020204030204" pitchFamily="49" charset="0"/>
                        </a:rPr>
                        <a:t>"</a:t>
                      </a:r>
                    </a:p>
                    <a:p>
                      <a:pPr algn="l" rtl="0" fontAlgn="base"/>
                      <a:r>
                        <a:rPr lang="en-US" sz="1800" b="0" i="0" dirty="0" smtClean="0">
                          <a:effectLst/>
                          <a:latin typeface="Consolas" panose="020B0609020204030204" pitchFamily="49" charset="0"/>
                        </a:rPr>
                        <a:t>#include </a:t>
                      </a:r>
                      <a:r>
                        <a:rPr lang="en-US" sz="1800" b="0" i="0" dirty="0">
                          <a:effectLst/>
                          <a:latin typeface="Consolas" panose="020B0609020204030204" pitchFamily="49" charset="0"/>
                        </a:rPr>
                        <a:t>"</a:t>
                      </a:r>
                      <a:r>
                        <a:rPr lang="en-US" sz="1800" b="0" i="0" dirty="0" err="1">
                          <a:effectLst/>
                          <a:latin typeface="Consolas" panose="020B0609020204030204" pitchFamily="49" charset="0"/>
                        </a:rPr>
                        <a:t>stdio.h</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Importing POSIX Operating System API library</a:t>
                      </a:r>
                    </a:p>
                    <a:p>
                      <a:pPr algn="l" rtl="0" fontAlgn="base"/>
                      <a:r>
                        <a:rPr lang="en-US" sz="1800" b="0" i="0" dirty="0">
                          <a:effectLst/>
                          <a:latin typeface="Consolas" panose="020B0609020204030204" pitchFamily="49" charset="0"/>
                        </a:rPr>
                        <a:t>#include "</a:t>
                      </a:r>
                      <a:r>
                        <a:rPr lang="en-US" sz="1800" b="0" i="0" dirty="0" err="1">
                          <a:effectLst/>
                          <a:latin typeface="Consolas" panose="020B0609020204030204" pitchFamily="49" charset="0"/>
                        </a:rPr>
                        <a:t>unistd.h</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#include "</a:t>
                      </a:r>
                      <a:r>
                        <a:rPr lang="en-US" sz="1800" b="0" i="0" dirty="0" err="1">
                          <a:effectLst/>
                          <a:latin typeface="Consolas" panose="020B0609020204030204" pitchFamily="49" charset="0"/>
                        </a:rPr>
                        <a:t>string.h</a:t>
                      </a:r>
                      <a:r>
                        <a:rPr lang="en-US" sz="1800" b="0" i="0" dirty="0">
                          <a:effectLst/>
                          <a:latin typeface="Consolas" panose="020B0609020204030204" pitchFamily="49" charset="0"/>
                        </a:rPr>
                        <a:t>"</a:t>
                      </a:r>
                    </a:p>
                    <a:p>
                      <a:pPr algn="l" rtl="0" fontAlgn="base"/>
                      <a:r>
                        <a:rPr lang="en-US" sz="1800" b="0" i="0" dirty="0" smtClean="0">
                          <a:effectLst/>
                          <a:latin typeface="Consolas" panose="020B0609020204030204" pitchFamily="49" charset="0"/>
                        </a:rPr>
                        <a:t>#</a:t>
                      </a:r>
                      <a:r>
                        <a:rPr lang="en-US" sz="1800" b="0" i="0" dirty="0">
                          <a:effectLst/>
                          <a:latin typeface="Consolas" panose="020B0609020204030204" pitchFamily="49" charset="0"/>
                        </a:rPr>
                        <a:t>define MEMBAR __</a:t>
                      </a:r>
                      <a:r>
                        <a:rPr lang="en-US" sz="1800" b="0" i="0" dirty="0" err="1">
                          <a:effectLst/>
                          <a:latin typeface="Consolas" panose="020B0609020204030204" pitchFamily="49" charset="0"/>
                        </a:rPr>
                        <a:t>sync_synchronize</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#define THREAD_COUNT 8</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volatile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tickets[THREAD_COUNT];</a:t>
                      </a:r>
                    </a:p>
                    <a:p>
                      <a:pPr algn="l" rtl="0" fontAlgn="base"/>
                      <a:r>
                        <a:rPr lang="en-US" sz="1800" b="0" i="0" dirty="0">
                          <a:effectLst/>
                          <a:latin typeface="Consolas" panose="020B0609020204030204" pitchFamily="49" charset="0"/>
                        </a:rPr>
                        <a:t>volatile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choosing[THREAD_COUNT];</a:t>
                      </a:r>
                    </a:p>
                    <a:p>
                      <a:pPr algn="l" rtl="0" fontAlgn="base"/>
                      <a:r>
                        <a:rPr lang="en-US" sz="1800" b="0" i="0" dirty="0">
                          <a:effectLst/>
                          <a:latin typeface="Consolas" panose="020B0609020204030204" pitchFamily="49" charset="0"/>
                        </a:rPr>
                        <a:t> </a:t>
                      </a:r>
                    </a:p>
                    <a:p>
                      <a:pPr algn="l" rtl="0" fontAlgn="base"/>
                      <a:r>
                        <a:rPr lang="en-US" sz="1800" b="0" i="0" dirty="0" smtClean="0">
                          <a:effectLst/>
                          <a:latin typeface="Consolas" panose="020B0609020204030204" pitchFamily="49" charset="0"/>
                        </a:rPr>
                        <a:t>volatile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resource;</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void lock(</a:t>
                      </a:r>
                      <a:r>
                        <a:rPr lang="en-US" sz="1800" b="0" i="0" dirty="0" err="1">
                          <a:effectLst/>
                          <a:latin typeface="Consolas" panose="020B0609020204030204" pitchFamily="49" charset="0"/>
                        </a:rPr>
                        <a:t>int</a:t>
                      </a:r>
                      <a:r>
                        <a:rPr lang="en-US" sz="1800" b="0" i="0" dirty="0">
                          <a:effectLst/>
                          <a:latin typeface="Consolas" panose="020B0609020204030204" pitchFamily="49" charset="0"/>
                        </a:rPr>
                        <a:t> thread)</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Before getting the ticket number</a:t>
                      </a:r>
                    </a:p>
                    <a:p>
                      <a:pPr algn="l" rtl="0" fontAlgn="base"/>
                      <a:r>
                        <a:rPr lang="en-US" sz="1800" b="0" i="0" dirty="0">
                          <a:effectLst/>
                          <a:latin typeface="Consolas" panose="020B0609020204030204" pitchFamily="49" charset="0"/>
                        </a:rPr>
                        <a:t>    //"choosing" variable is set to be true</a:t>
                      </a:r>
                    </a:p>
                    <a:p>
                      <a:pPr algn="l" rtl="0" fontAlgn="base"/>
                      <a:r>
                        <a:rPr lang="en-US" sz="1800" b="0" i="0" dirty="0">
                          <a:effectLst/>
                          <a:latin typeface="Consolas" panose="020B0609020204030204" pitchFamily="49" charset="0"/>
                        </a:rPr>
                        <a:t>    choosing[thread] = 1;</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MEMBAR;</a:t>
                      </a:r>
                    </a:p>
                    <a:p>
                      <a:pPr algn="l" rtl="0" fontAlgn="base"/>
                      <a:r>
                        <a:rPr lang="en-US" sz="1800" b="0" i="0" dirty="0">
                          <a:effectLst/>
                          <a:latin typeface="Consolas" panose="020B0609020204030204" pitchFamily="49" charset="0"/>
                        </a:rPr>
                        <a:t>    // Memory barrier applied</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a:t>
                      </a:r>
                      <a:r>
                        <a:rPr lang="en-US" sz="1800" b="0" i="0" dirty="0" err="1">
                          <a:effectLst/>
                          <a:latin typeface="Consolas" panose="020B0609020204030204" pitchFamily="49" charset="0"/>
                        </a:rPr>
                        <a:t>max_ticket</a:t>
                      </a:r>
                      <a:r>
                        <a:rPr lang="en-US" sz="1800" b="0" i="0" dirty="0">
                          <a:effectLst/>
                          <a:latin typeface="Consolas" panose="020B0609020204030204" pitchFamily="49" charset="0"/>
                        </a:rPr>
                        <a:t> = 0;</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Finding Maximum ticket value among current threads</a:t>
                      </a:r>
                    </a:p>
                    <a:p>
                      <a:pPr algn="l" rtl="0" fontAlgn="base"/>
                      <a:r>
                        <a:rPr lang="en-US" sz="1800" b="0" i="0" dirty="0">
                          <a:effectLst/>
                          <a:latin typeface="Consolas" panose="020B0609020204030204" pitchFamily="49" charset="0"/>
                        </a:rPr>
                        <a:t>    for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a:t>
                      </a:r>
                      <a:r>
                        <a:rPr lang="en-US" sz="1800" b="0" i="0" dirty="0" err="1">
                          <a:effectLst/>
                          <a:latin typeface="Consolas" panose="020B0609020204030204" pitchFamily="49" charset="0"/>
                        </a:rPr>
                        <a:t>i</a:t>
                      </a:r>
                      <a:r>
                        <a:rPr lang="en-US" sz="1800" b="0" i="0" dirty="0">
                          <a:effectLst/>
                          <a:latin typeface="Consolas" panose="020B0609020204030204" pitchFamily="49" charset="0"/>
                        </a:rPr>
                        <a:t> = 0; </a:t>
                      </a:r>
                      <a:r>
                        <a:rPr lang="en-US" sz="1800" b="0" i="0" dirty="0" err="1">
                          <a:effectLst/>
                          <a:latin typeface="Consolas" panose="020B0609020204030204" pitchFamily="49" charset="0"/>
                        </a:rPr>
                        <a:t>i</a:t>
                      </a:r>
                      <a:r>
                        <a:rPr lang="en-US" sz="1800" b="0" i="0" dirty="0">
                          <a:effectLst/>
                          <a:latin typeface="Consolas" panose="020B0609020204030204" pitchFamily="49" charset="0"/>
                        </a:rPr>
                        <a:t> &lt; THREAD_COUNT; ++</a:t>
                      </a:r>
                      <a:r>
                        <a:rPr lang="en-US" sz="1800" b="0" i="0" dirty="0" err="1">
                          <a:effectLst/>
                          <a:latin typeface="Consolas" panose="020B0609020204030204" pitchFamily="49" charset="0"/>
                        </a:rPr>
                        <a:t>i</a:t>
                      </a:r>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ticket = tickets[</a:t>
                      </a:r>
                      <a:r>
                        <a:rPr lang="en-US" sz="1800" b="0" i="0" dirty="0" err="1">
                          <a:effectLst/>
                          <a:latin typeface="Consolas" panose="020B0609020204030204" pitchFamily="49" charset="0"/>
                        </a:rPr>
                        <a:t>i</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max_ticket</a:t>
                      </a:r>
                      <a:r>
                        <a:rPr lang="en-US" sz="1800" b="0" i="0" dirty="0">
                          <a:effectLst/>
                          <a:latin typeface="Consolas" panose="020B0609020204030204" pitchFamily="49" charset="0"/>
                        </a:rPr>
                        <a:t> = ticket &gt; </a:t>
                      </a:r>
                      <a:r>
                        <a:rPr lang="en-US" sz="1800" b="0" i="0" dirty="0" err="1">
                          <a:effectLst/>
                          <a:latin typeface="Consolas" panose="020B0609020204030204" pitchFamily="49" charset="0"/>
                        </a:rPr>
                        <a:t>max_ticket</a:t>
                      </a:r>
                      <a:r>
                        <a:rPr lang="en-US" sz="1800" b="0" i="0" dirty="0">
                          <a:effectLst/>
                          <a:latin typeface="Consolas" panose="020B0609020204030204" pitchFamily="49" charset="0"/>
                        </a:rPr>
                        <a:t> ? ticket : </a:t>
                      </a:r>
                      <a:r>
                        <a:rPr lang="en-US" sz="1800" b="0" i="0" dirty="0" err="1">
                          <a:effectLst/>
                          <a:latin typeface="Consolas" panose="020B0609020204030204" pitchFamily="49" charset="0"/>
                        </a:rPr>
                        <a:t>max_ticket</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Allotting a new ticket value as MAXIMUM + 1</a:t>
                      </a:r>
                    </a:p>
                    <a:p>
                      <a:pPr algn="l" rtl="0" fontAlgn="base"/>
                      <a:r>
                        <a:rPr lang="en-US" sz="1800" b="0" i="0" dirty="0">
                          <a:effectLst/>
                          <a:latin typeface="Consolas" panose="020B0609020204030204" pitchFamily="49" charset="0"/>
                        </a:rPr>
                        <a:t>    tickets[thread] = </a:t>
                      </a:r>
                      <a:r>
                        <a:rPr lang="en-US" sz="1800" b="0" i="0" dirty="0" err="1">
                          <a:effectLst/>
                          <a:latin typeface="Consolas" panose="020B0609020204030204" pitchFamily="49" charset="0"/>
                        </a:rPr>
                        <a:t>max_ticket</a:t>
                      </a:r>
                      <a:r>
                        <a:rPr lang="en-US" sz="1800" b="0" i="0" dirty="0">
                          <a:effectLst/>
                          <a:latin typeface="Consolas" panose="020B0609020204030204" pitchFamily="49" charset="0"/>
                        </a:rPr>
                        <a:t> + 1;</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MEMBAR;</a:t>
                      </a:r>
                    </a:p>
                    <a:p>
                      <a:pPr algn="l" rtl="0" fontAlgn="base"/>
                      <a:r>
                        <a:rPr lang="en-US" sz="1800" b="0" i="0" dirty="0">
                          <a:effectLst/>
                          <a:latin typeface="Consolas" panose="020B0609020204030204" pitchFamily="49" charset="0"/>
                        </a:rPr>
                        <a:t>    choosing[thread] = 0;</a:t>
                      </a:r>
                    </a:p>
                    <a:p>
                      <a:pPr algn="l" rtl="0" fontAlgn="base"/>
                      <a:r>
                        <a:rPr lang="en-US" sz="1800" b="0" i="0" dirty="0">
                          <a:effectLst/>
                          <a:latin typeface="Consolas" panose="020B0609020204030204" pitchFamily="49" charset="0"/>
                        </a:rPr>
                        <a:t>    MEMBAR;</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The ENTRY Section starts from here</a:t>
                      </a:r>
                    </a:p>
                    <a:p>
                      <a:pPr algn="l" rtl="0" fontAlgn="base"/>
                      <a:r>
                        <a:rPr lang="en-US" sz="1800" b="0" i="0" dirty="0">
                          <a:effectLst/>
                          <a:latin typeface="Consolas" panose="020B0609020204030204" pitchFamily="49" charset="0"/>
                        </a:rPr>
                        <a:t>    for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other = 0; other &lt; THREAD_COUNT; ++other)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Applying the bakery algorithm conditions</a:t>
                      </a:r>
                    </a:p>
                    <a:p>
                      <a:pPr algn="l" rtl="0" fontAlgn="base"/>
                      <a:r>
                        <a:rPr lang="en-US" sz="1800" b="0" i="0" dirty="0">
                          <a:effectLst/>
                          <a:latin typeface="Consolas" panose="020B0609020204030204" pitchFamily="49" charset="0"/>
                        </a:rPr>
                        <a:t>        while (choosing[other])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MEMBAR;</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while (tickets[other] != 0 &amp;&amp; (tickets[other]</a:t>
                      </a:r>
                    </a:p>
                    <a:p>
                      <a:pPr algn="l" rtl="0" fontAlgn="base"/>
                      <a:r>
                        <a:rPr lang="en-US" sz="1800" b="0" i="0" dirty="0">
                          <a:effectLst/>
                          <a:latin typeface="Consolas" panose="020B0609020204030204" pitchFamily="49" charset="0"/>
                        </a:rPr>
                        <a:t>                                           &lt; tickets[thread]</a:t>
                      </a:r>
                    </a:p>
                    <a:p>
                      <a:pPr algn="l" rtl="0" fontAlgn="base"/>
                      <a:r>
                        <a:rPr lang="en-US" sz="1800" b="0" i="0" dirty="0">
                          <a:effectLst/>
                          <a:latin typeface="Consolas" panose="020B0609020204030204" pitchFamily="49" charset="0"/>
                        </a:rPr>
                        <a:t>                                       || (tickets[other]</a:t>
                      </a:r>
                    </a:p>
                    <a:p>
                      <a:pPr algn="l" rtl="0" fontAlgn="base"/>
                      <a:r>
                        <a:rPr lang="en-US" sz="1800" b="0" i="0" dirty="0">
                          <a:effectLst/>
                          <a:latin typeface="Consolas" panose="020B0609020204030204" pitchFamily="49" charset="0"/>
                        </a:rPr>
                        <a:t>                                               == tickets[thread]</a:t>
                      </a:r>
                    </a:p>
                    <a:p>
                      <a:pPr algn="l" rtl="0" fontAlgn="base"/>
                      <a:r>
                        <a:rPr lang="en-US" sz="1800" b="0" i="0" dirty="0">
                          <a:effectLst/>
                          <a:latin typeface="Consolas" panose="020B0609020204030204" pitchFamily="49" charset="0"/>
                        </a:rPr>
                        <a:t>                                           &amp;&amp; other &lt; thread)))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EXIT Section</a:t>
                      </a:r>
                    </a:p>
                    <a:p>
                      <a:pPr algn="l" rtl="0" fontAlgn="base"/>
                      <a:r>
                        <a:rPr lang="en-US" sz="1800" b="0" i="0" dirty="0">
                          <a:effectLst/>
                          <a:latin typeface="Consolas" panose="020B0609020204030204" pitchFamily="49" charset="0"/>
                        </a:rPr>
                        <a:t>void unlock(</a:t>
                      </a:r>
                      <a:r>
                        <a:rPr lang="en-US" sz="1800" b="0" i="0" dirty="0" err="1">
                          <a:effectLst/>
                          <a:latin typeface="Consolas" panose="020B0609020204030204" pitchFamily="49" charset="0"/>
                        </a:rPr>
                        <a:t>int</a:t>
                      </a:r>
                      <a:r>
                        <a:rPr lang="en-US" sz="1800" b="0" i="0" dirty="0">
                          <a:effectLst/>
                          <a:latin typeface="Consolas" panose="020B0609020204030204" pitchFamily="49" charset="0"/>
                        </a:rPr>
                        <a:t> thread)</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MEMBAR;</a:t>
                      </a:r>
                    </a:p>
                    <a:p>
                      <a:pPr algn="l" rtl="0" fontAlgn="base"/>
                      <a:r>
                        <a:rPr lang="en-US" sz="1800" b="0" i="0" dirty="0">
                          <a:effectLst/>
                          <a:latin typeface="Consolas" panose="020B0609020204030204" pitchFamily="49" charset="0"/>
                        </a:rPr>
                        <a:t>    tickets[thread] = 0;</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The CRITICAL Section</a:t>
                      </a:r>
                    </a:p>
                    <a:p>
                      <a:pPr algn="l" rtl="0" fontAlgn="base"/>
                      <a:r>
                        <a:rPr lang="en-US" sz="1800" b="0" i="0" dirty="0">
                          <a:effectLst/>
                          <a:latin typeface="Consolas" panose="020B0609020204030204" pitchFamily="49" charset="0"/>
                        </a:rPr>
                        <a:t>void </a:t>
                      </a:r>
                      <a:r>
                        <a:rPr lang="en-US" sz="1800" b="0" i="0" dirty="0" err="1">
                          <a:effectLst/>
                          <a:latin typeface="Consolas" panose="020B0609020204030204" pitchFamily="49" charset="0"/>
                        </a:rPr>
                        <a:t>use_resource</a:t>
                      </a:r>
                      <a:r>
                        <a:rPr lang="en-US" sz="1800" b="0" i="0" dirty="0">
                          <a:effectLst/>
                          <a:latin typeface="Consolas" panose="020B0609020204030204" pitchFamily="49" charset="0"/>
                        </a:rPr>
                        <a:t>(</a:t>
                      </a:r>
                      <a:r>
                        <a:rPr lang="en-US" sz="1800" b="0" i="0" dirty="0" err="1">
                          <a:effectLst/>
                          <a:latin typeface="Consolas" panose="020B0609020204030204" pitchFamily="49" charset="0"/>
                        </a:rPr>
                        <a:t>int</a:t>
                      </a:r>
                      <a:r>
                        <a:rPr lang="en-US" sz="1800" b="0" i="0" dirty="0">
                          <a:effectLst/>
                          <a:latin typeface="Consolas" panose="020B0609020204030204" pitchFamily="49" charset="0"/>
                        </a:rPr>
                        <a:t> thread)</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if (resource != 0) {</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printf</a:t>
                      </a:r>
                      <a:r>
                        <a:rPr lang="en-US" sz="1800" b="0" i="0" dirty="0">
                          <a:effectLst/>
                          <a:latin typeface="Consolas" panose="020B0609020204030204" pitchFamily="49" charset="0"/>
                        </a:rPr>
                        <a:t>("Resource was acquired by %d, but is still in-use by %d!\n",</a:t>
                      </a:r>
                    </a:p>
                    <a:p>
                      <a:pPr algn="l" rtl="0" fontAlgn="base"/>
                      <a:r>
                        <a:rPr lang="en-US" sz="1800" b="0" i="0" dirty="0">
                          <a:effectLst/>
                          <a:latin typeface="Consolas" panose="020B0609020204030204" pitchFamily="49" charset="0"/>
                        </a:rPr>
                        <a:t>               thread, resource);</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resource = thread;</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printf</a:t>
                      </a:r>
                      <a:r>
                        <a:rPr lang="en-US" sz="1800" b="0" i="0" dirty="0">
                          <a:effectLst/>
                          <a:latin typeface="Consolas" panose="020B0609020204030204" pitchFamily="49" charset="0"/>
                        </a:rPr>
                        <a:t>("%d using resource...\n", thread);</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MEMBAR;</a:t>
                      </a:r>
                    </a:p>
                    <a:p>
                      <a:pPr algn="l" rtl="0" fontAlgn="base"/>
                      <a:r>
                        <a:rPr lang="en-US" sz="1800" b="0" i="0" dirty="0">
                          <a:effectLst/>
                          <a:latin typeface="Consolas" panose="020B0609020204030204" pitchFamily="49" charset="0"/>
                        </a:rPr>
                        <a:t>    sleep(2);</a:t>
                      </a:r>
                    </a:p>
                    <a:p>
                      <a:pPr algn="l" rtl="0" fontAlgn="base"/>
                      <a:r>
                        <a:rPr lang="en-US" sz="1800" b="0" i="0" dirty="0">
                          <a:effectLst/>
                          <a:latin typeface="Consolas" panose="020B0609020204030204" pitchFamily="49" charset="0"/>
                        </a:rPr>
                        <a:t>    resource = 0;</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 simplified function to show the implementation</a:t>
                      </a:r>
                    </a:p>
                    <a:p>
                      <a:pPr algn="l" rtl="0" fontAlgn="base"/>
                      <a:r>
                        <a:rPr lang="en-US" sz="1800" b="0" i="0" dirty="0">
                          <a:effectLst/>
                          <a:latin typeface="Consolas" panose="020B0609020204030204" pitchFamily="49" charset="0"/>
                        </a:rPr>
                        <a:t>void* </a:t>
                      </a:r>
                      <a:r>
                        <a:rPr lang="en-US" sz="1800" b="0" i="0" dirty="0" err="1">
                          <a:effectLst/>
                          <a:latin typeface="Consolas" panose="020B0609020204030204" pitchFamily="49" charset="0"/>
                        </a:rPr>
                        <a:t>thread_body</a:t>
                      </a:r>
                      <a:r>
                        <a:rPr lang="en-US" sz="1800" b="0" i="0" dirty="0">
                          <a:effectLst/>
                          <a:latin typeface="Consolas" panose="020B0609020204030204" pitchFamily="49" charset="0"/>
                        </a:rPr>
                        <a:t>(void* </a:t>
                      </a:r>
                      <a:r>
                        <a:rPr lang="en-US" sz="1800" b="0" i="0" dirty="0" err="1">
                          <a:effectLst/>
                          <a:latin typeface="Consolas" panose="020B0609020204030204" pitchFamily="49" charset="0"/>
                        </a:rPr>
                        <a:t>arg</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long thread = (long)</a:t>
                      </a:r>
                      <a:r>
                        <a:rPr lang="en-US" sz="1800" b="0" i="0" dirty="0" err="1">
                          <a:effectLst/>
                          <a:latin typeface="Consolas" panose="020B0609020204030204" pitchFamily="49" charset="0"/>
                        </a:rPr>
                        <a:t>arg</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lock(thread);</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use_resource</a:t>
                      </a:r>
                      <a:r>
                        <a:rPr lang="en-US" sz="1800" b="0" i="0" dirty="0">
                          <a:effectLst/>
                          <a:latin typeface="Consolas" panose="020B0609020204030204" pitchFamily="49" charset="0"/>
                        </a:rPr>
                        <a:t>(thread);</a:t>
                      </a:r>
                    </a:p>
                    <a:p>
                      <a:pPr algn="l" rtl="0" fontAlgn="base"/>
                      <a:r>
                        <a:rPr lang="en-US" sz="1800" b="0" i="0" dirty="0">
                          <a:effectLst/>
                          <a:latin typeface="Consolas" panose="020B0609020204030204" pitchFamily="49" charset="0"/>
                        </a:rPr>
                        <a:t>    unlock(thread);</a:t>
                      </a:r>
                    </a:p>
                    <a:p>
                      <a:pPr algn="l" rtl="0" fontAlgn="base"/>
                      <a:r>
                        <a:rPr lang="en-US" sz="1800" b="0" i="0" dirty="0">
                          <a:effectLst/>
                          <a:latin typeface="Consolas" panose="020B0609020204030204" pitchFamily="49" charset="0"/>
                        </a:rPr>
                        <a:t>    return NULL;</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err="1">
                          <a:effectLst/>
                          <a:latin typeface="Consolas" panose="020B0609020204030204" pitchFamily="49" charset="0"/>
                        </a:rPr>
                        <a:t>int</a:t>
                      </a:r>
                      <a:r>
                        <a:rPr lang="en-US" sz="1800" b="0" i="0" dirty="0">
                          <a:effectLst/>
                          <a:latin typeface="Consolas" panose="020B0609020204030204" pitchFamily="49" charset="0"/>
                        </a:rPr>
                        <a:t> main(</a:t>
                      </a:r>
                      <a:r>
                        <a:rPr lang="en-US" sz="1800" b="0" i="0" dirty="0" err="1">
                          <a:effectLst/>
                          <a:latin typeface="Consolas" panose="020B0609020204030204" pitchFamily="49" charset="0"/>
                        </a:rPr>
                        <a:t>int</a:t>
                      </a:r>
                      <a:r>
                        <a:rPr lang="en-US" sz="1800" b="0" i="0" dirty="0">
                          <a:effectLst/>
                          <a:latin typeface="Consolas" panose="020B0609020204030204" pitchFamily="49" charset="0"/>
                        </a:rPr>
                        <a:t> </a:t>
                      </a:r>
                      <a:r>
                        <a:rPr lang="en-US" sz="1800" b="0" i="0" dirty="0" err="1">
                          <a:effectLst/>
                          <a:latin typeface="Consolas" panose="020B0609020204030204" pitchFamily="49" charset="0"/>
                        </a:rPr>
                        <a:t>argc</a:t>
                      </a:r>
                      <a:r>
                        <a:rPr lang="en-US" sz="1800" b="0" i="0" dirty="0">
                          <a:effectLst/>
                          <a:latin typeface="Consolas" panose="020B0609020204030204" pitchFamily="49" charset="0"/>
                        </a:rPr>
                        <a:t>, char** </a:t>
                      </a:r>
                      <a:r>
                        <a:rPr lang="en-US" sz="1800" b="0" i="0" dirty="0" err="1">
                          <a:effectLst/>
                          <a:latin typeface="Consolas" panose="020B0609020204030204" pitchFamily="49" charset="0"/>
                        </a:rPr>
                        <a:t>argv</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memset</a:t>
                      </a:r>
                      <a:r>
                        <a:rPr lang="en-US" sz="1800" b="0" i="0" dirty="0">
                          <a:effectLst/>
                          <a:latin typeface="Consolas" panose="020B0609020204030204" pitchFamily="49" charset="0"/>
                        </a:rPr>
                        <a:t>((void*)tickets, 0, </a:t>
                      </a:r>
                      <a:r>
                        <a:rPr lang="en-US" sz="1800" b="0" i="0" dirty="0" err="1">
                          <a:effectLst/>
                          <a:latin typeface="Consolas" panose="020B0609020204030204" pitchFamily="49" charset="0"/>
                        </a:rPr>
                        <a:t>sizeof</a:t>
                      </a:r>
                      <a:r>
                        <a:rPr lang="en-US" sz="1800" b="0" i="0" dirty="0">
                          <a:effectLst/>
                          <a:latin typeface="Consolas" panose="020B0609020204030204" pitchFamily="49" charset="0"/>
                        </a:rPr>
                        <a:t>(tickets));</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memset</a:t>
                      </a:r>
                      <a:r>
                        <a:rPr lang="en-US" sz="1800" b="0" i="0" dirty="0">
                          <a:effectLst/>
                          <a:latin typeface="Consolas" panose="020B0609020204030204" pitchFamily="49" charset="0"/>
                        </a:rPr>
                        <a:t>((void*)choosing, 0, </a:t>
                      </a:r>
                      <a:r>
                        <a:rPr lang="en-US" sz="1800" b="0" i="0" dirty="0" err="1">
                          <a:effectLst/>
                          <a:latin typeface="Consolas" panose="020B0609020204030204" pitchFamily="49" charset="0"/>
                        </a:rPr>
                        <a:t>sizeof</a:t>
                      </a:r>
                      <a:r>
                        <a:rPr lang="en-US" sz="1800" b="0" i="0" dirty="0">
                          <a:effectLst/>
                          <a:latin typeface="Consolas" panose="020B0609020204030204" pitchFamily="49" charset="0"/>
                        </a:rPr>
                        <a:t>(choosing));</a:t>
                      </a:r>
                    </a:p>
                    <a:p>
                      <a:pPr algn="l" rtl="0" fontAlgn="base"/>
                      <a:r>
                        <a:rPr lang="en-US" sz="1800" b="0" i="0" dirty="0">
                          <a:effectLst/>
                          <a:latin typeface="Consolas" panose="020B0609020204030204" pitchFamily="49" charset="0"/>
                        </a:rPr>
                        <a:t>    resource = 0;</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Declaring the thread variables</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pthread_t</a:t>
                      </a:r>
                      <a:r>
                        <a:rPr lang="en-US" sz="1800" b="0" i="0" dirty="0">
                          <a:effectLst/>
                          <a:latin typeface="Consolas" panose="020B0609020204030204" pitchFamily="49" charset="0"/>
                        </a:rPr>
                        <a:t> threads[THREAD_COUNT];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for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a:t>
                      </a:r>
                      <a:r>
                        <a:rPr lang="en-US" sz="1800" b="0" i="0" dirty="0" err="1">
                          <a:effectLst/>
                          <a:latin typeface="Consolas" panose="020B0609020204030204" pitchFamily="49" charset="0"/>
                        </a:rPr>
                        <a:t>i</a:t>
                      </a:r>
                      <a:r>
                        <a:rPr lang="en-US" sz="1800" b="0" i="0" dirty="0">
                          <a:effectLst/>
                          <a:latin typeface="Consolas" panose="020B0609020204030204" pitchFamily="49" charset="0"/>
                        </a:rPr>
                        <a:t> = 0; </a:t>
                      </a:r>
                      <a:r>
                        <a:rPr lang="en-US" sz="1800" b="0" i="0" dirty="0" err="1">
                          <a:effectLst/>
                          <a:latin typeface="Consolas" panose="020B0609020204030204" pitchFamily="49" charset="0"/>
                        </a:rPr>
                        <a:t>i</a:t>
                      </a:r>
                      <a:r>
                        <a:rPr lang="en-US" sz="1800" b="0" i="0" dirty="0">
                          <a:effectLst/>
                          <a:latin typeface="Consolas" panose="020B0609020204030204" pitchFamily="49" charset="0"/>
                        </a:rPr>
                        <a:t> &lt; THREAD_COUNT; ++</a:t>
                      </a:r>
                      <a:r>
                        <a:rPr lang="en-US" sz="1800" b="0" i="0" dirty="0" err="1">
                          <a:effectLst/>
                          <a:latin typeface="Consolas" panose="020B0609020204030204" pitchFamily="49" charset="0"/>
                        </a:rPr>
                        <a:t>i</a:t>
                      </a:r>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Creating a new thread with the function</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thread_body</a:t>
                      </a:r>
                      <a:r>
                        <a:rPr lang="en-US" sz="1800" b="0" i="0" dirty="0">
                          <a:effectLst/>
                          <a:latin typeface="Consolas" panose="020B0609020204030204" pitchFamily="49" charset="0"/>
                        </a:rPr>
                        <a:t>" as its thread routine</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pthread_create</a:t>
                      </a:r>
                      <a:r>
                        <a:rPr lang="en-US" sz="1800" b="0" i="0" dirty="0">
                          <a:effectLst/>
                          <a:latin typeface="Consolas" panose="020B0609020204030204" pitchFamily="49" charset="0"/>
                        </a:rPr>
                        <a:t>(&amp;threads[</a:t>
                      </a:r>
                      <a:r>
                        <a:rPr lang="en-US" sz="1800" b="0" i="0" dirty="0" err="1">
                          <a:effectLst/>
                          <a:latin typeface="Consolas" panose="020B0609020204030204" pitchFamily="49" charset="0"/>
                        </a:rPr>
                        <a:t>i</a:t>
                      </a:r>
                      <a:r>
                        <a:rPr lang="en-US" sz="1800" b="0" i="0" dirty="0">
                          <a:effectLst/>
                          <a:latin typeface="Consolas" panose="020B0609020204030204" pitchFamily="49" charset="0"/>
                        </a:rPr>
                        <a:t>], NULL, &amp;</a:t>
                      </a:r>
                      <a:r>
                        <a:rPr lang="en-US" sz="1800" b="0" i="0" dirty="0" err="1">
                          <a:effectLst/>
                          <a:latin typeface="Consolas" panose="020B0609020204030204" pitchFamily="49" charset="0"/>
                        </a:rPr>
                        <a:t>thread_body</a:t>
                      </a:r>
                      <a:r>
                        <a:rPr lang="en-US" sz="1800" b="0" i="0" dirty="0">
                          <a:effectLst/>
                          <a:latin typeface="Consolas" panose="020B0609020204030204" pitchFamily="49" charset="0"/>
                        </a:rPr>
                        <a:t>, (void*)((long)</a:t>
                      </a:r>
                      <a:r>
                        <a:rPr lang="en-US" sz="1800" b="0" i="0" dirty="0" err="1">
                          <a:effectLst/>
                          <a:latin typeface="Consolas" panose="020B0609020204030204" pitchFamily="49" charset="0"/>
                        </a:rPr>
                        <a:t>i</a:t>
                      </a:r>
                      <a:r>
                        <a:rPr lang="en-US" sz="1800" b="0" i="0" dirty="0">
                          <a:effectLst/>
                          <a:latin typeface="Consolas" panose="020B0609020204030204" pitchFamily="49" charset="0"/>
                        </a:rPr>
                        <a:t>));</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for (</a:t>
                      </a:r>
                      <a:r>
                        <a:rPr lang="en-US" sz="1800" b="0" i="0" dirty="0" err="1">
                          <a:effectLst/>
                          <a:latin typeface="Consolas" panose="020B0609020204030204" pitchFamily="49" charset="0"/>
                        </a:rPr>
                        <a:t>int</a:t>
                      </a:r>
                      <a:r>
                        <a:rPr lang="en-US" sz="1800" b="0" i="0" dirty="0">
                          <a:effectLst/>
                          <a:latin typeface="Consolas" panose="020B0609020204030204" pitchFamily="49" charset="0"/>
                        </a:rPr>
                        <a:t> </a:t>
                      </a:r>
                      <a:r>
                        <a:rPr lang="en-US" sz="1800" b="0" i="0" dirty="0" err="1">
                          <a:effectLst/>
                          <a:latin typeface="Consolas" panose="020B0609020204030204" pitchFamily="49" charset="0"/>
                        </a:rPr>
                        <a:t>i</a:t>
                      </a:r>
                      <a:r>
                        <a:rPr lang="en-US" sz="1800" b="0" i="0" dirty="0">
                          <a:effectLst/>
                          <a:latin typeface="Consolas" panose="020B0609020204030204" pitchFamily="49" charset="0"/>
                        </a:rPr>
                        <a:t> = 0; </a:t>
                      </a:r>
                      <a:r>
                        <a:rPr lang="en-US" sz="1800" b="0" i="0" dirty="0" err="1">
                          <a:effectLst/>
                          <a:latin typeface="Consolas" panose="020B0609020204030204" pitchFamily="49" charset="0"/>
                        </a:rPr>
                        <a:t>i</a:t>
                      </a:r>
                      <a:r>
                        <a:rPr lang="en-US" sz="1800" b="0" i="0" dirty="0">
                          <a:effectLst/>
                          <a:latin typeface="Consolas" panose="020B0609020204030204" pitchFamily="49" charset="0"/>
                        </a:rPr>
                        <a:t> &lt; THREAD_COUNT; ++</a:t>
                      </a:r>
                      <a:r>
                        <a:rPr lang="en-US" sz="1800" b="0" i="0" dirty="0" err="1">
                          <a:effectLst/>
                          <a:latin typeface="Consolas" panose="020B0609020204030204" pitchFamily="49" charset="0"/>
                        </a:rPr>
                        <a:t>i</a:t>
                      </a:r>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 Reaping the resources used by</a:t>
                      </a:r>
                    </a:p>
                    <a:p>
                      <a:pPr algn="l" rtl="0" fontAlgn="base"/>
                      <a:r>
                        <a:rPr lang="en-US" sz="1800" b="0" i="0" dirty="0">
                          <a:effectLst/>
                          <a:latin typeface="Consolas" panose="020B0609020204030204" pitchFamily="49" charset="0"/>
                        </a:rPr>
                        <a:t>        // all threads once their task is completed !</a:t>
                      </a:r>
                    </a:p>
                    <a:p>
                      <a:pPr algn="l" rtl="0" fontAlgn="base"/>
                      <a:r>
                        <a:rPr lang="en-US" sz="1800" b="0" i="0" dirty="0">
                          <a:effectLst/>
                          <a:latin typeface="Consolas" panose="020B0609020204030204" pitchFamily="49" charset="0"/>
                        </a:rPr>
                        <a:t>        </a:t>
                      </a:r>
                      <a:r>
                        <a:rPr lang="en-US" sz="1800" b="0" i="0" dirty="0" err="1">
                          <a:effectLst/>
                          <a:latin typeface="Consolas" panose="020B0609020204030204" pitchFamily="49" charset="0"/>
                        </a:rPr>
                        <a:t>pthread_join</a:t>
                      </a:r>
                      <a:r>
                        <a:rPr lang="en-US" sz="1800" b="0" i="0" dirty="0">
                          <a:effectLst/>
                          <a:latin typeface="Consolas" panose="020B0609020204030204" pitchFamily="49" charset="0"/>
                        </a:rPr>
                        <a:t>(threads[</a:t>
                      </a:r>
                      <a:r>
                        <a:rPr lang="en-US" sz="1800" b="0" i="0" dirty="0" err="1">
                          <a:effectLst/>
                          <a:latin typeface="Consolas" panose="020B0609020204030204" pitchFamily="49" charset="0"/>
                        </a:rPr>
                        <a:t>i</a:t>
                      </a:r>
                      <a:r>
                        <a:rPr lang="en-US" sz="1800" b="0" i="0" dirty="0">
                          <a:effectLst/>
                          <a:latin typeface="Consolas" panose="020B0609020204030204" pitchFamily="49" charset="0"/>
                        </a:rPr>
                        <a:t>], NULL);</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a:t>
                      </a:r>
                    </a:p>
                    <a:p>
                      <a:pPr algn="l" rtl="0" fontAlgn="base"/>
                      <a:r>
                        <a:rPr lang="en-US" sz="1800" b="0" i="0" dirty="0">
                          <a:effectLst/>
                          <a:latin typeface="Consolas" panose="020B0609020204030204" pitchFamily="49" charset="0"/>
                        </a:rPr>
                        <a:t>    return 0;</a:t>
                      </a:r>
                    </a:p>
                    <a:p>
                      <a:pPr algn="l" rtl="0" fontAlgn="base"/>
                      <a:r>
                        <a:rPr lang="en-US" sz="1800" b="0" i="0" dirty="0">
                          <a:effectLst/>
                          <a:latin typeface="Consolas" panose="020B0609020204030204" pitchFamily="49" charset="0"/>
                        </a:rPr>
                        <a:t>}</a:t>
                      </a:r>
                    </a:p>
                  </a:txBody>
                  <a:tcPr marL="12602" marR="12602" marT="17642" marB="17642"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350320027"/>
                  </a:ext>
                </a:extLst>
              </a:tr>
            </a:tbl>
          </a:graphicData>
        </a:graphic>
      </p:graphicFrame>
    </p:spTree>
    <p:extLst>
      <p:ext uri="{BB962C8B-B14F-4D97-AF65-F5344CB8AC3E}">
        <p14:creationId xmlns:p14="http://schemas.microsoft.com/office/powerpoint/2010/main" val="281848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9542" y="216049"/>
            <a:ext cx="10551887" cy="5632311"/>
          </a:xfrm>
          <a:prstGeom prst="rect">
            <a:avLst/>
          </a:prstGeom>
        </p:spPr>
        <p:txBody>
          <a:bodyPr wrap="square">
            <a:spAutoFit/>
          </a:bodyPr>
          <a:lstStyle/>
          <a:p>
            <a:pPr fontAlgn="base"/>
            <a:r>
              <a:rPr lang="en-US" sz="2000" b="1" i="0" u="sng" dirty="0" smtClean="0">
                <a:solidFill>
                  <a:srgbClr val="273239"/>
                </a:solidFill>
                <a:effectLst/>
                <a:latin typeface="Times New Roman" panose="02020603050405020304" pitchFamily="18" charset="0"/>
                <a:cs typeface="Times New Roman" panose="02020603050405020304" pitchFamily="18" charset="0"/>
              </a:rPr>
              <a:t>Advantages of Bakery Algorithm:</a:t>
            </a:r>
            <a:endParaRPr lang="en-US" sz="2000" b="0" i="0" u="sng" dirty="0" smtClean="0">
              <a:solidFill>
                <a:srgbClr val="273239"/>
              </a:solidFill>
              <a:effectLst/>
              <a:latin typeface="Times New Roman" panose="02020603050405020304" pitchFamily="18" charset="0"/>
              <a:cs typeface="Times New Roman" panose="02020603050405020304" pitchFamily="18" charset="0"/>
            </a:endParaRP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Fairness:</a:t>
            </a:r>
            <a:r>
              <a:rPr lang="en-US" sz="2000" b="0" i="0" dirty="0" smtClean="0">
                <a:solidFill>
                  <a:srgbClr val="273239"/>
                </a:solidFill>
                <a:effectLst/>
                <a:latin typeface="Times New Roman" panose="02020603050405020304" pitchFamily="18" charset="0"/>
                <a:cs typeface="Times New Roman" panose="02020603050405020304" pitchFamily="18" charset="0"/>
              </a:rPr>
              <a:t> The Bakery Algorithm provides fairness, as it ensures that all processes get a fair chance to access the critical section, and no process will be left waiting indefinitely.</a:t>
            </a: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Easy to Implement:</a:t>
            </a:r>
            <a:r>
              <a:rPr lang="en-US" sz="2000" b="0" i="0" dirty="0" smtClean="0">
                <a:solidFill>
                  <a:srgbClr val="273239"/>
                </a:solidFill>
                <a:effectLst/>
                <a:latin typeface="Times New Roman" panose="02020603050405020304" pitchFamily="18" charset="0"/>
                <a:cs typeface="Times New Roman" panose="02020603050405020304" pitchFamily="18" charset="0"/>
              </a:rPr>
              <a:t> The algorithm is easy to understand and implement, as it uses simple concepts such as turn numbers and flags to ensure mutual exclusion.</a:t>
            </a: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No Deadlock:</a:t>
            </a:r>
            <a:r>
              <a:rPr lang="en-US" sz="2000" b="0" i="0" dirty="0" smtClean="0">
                <a:solidFill>
                  <a:srgbClr val="273239"/>
                </a:solidFill>
                <a:effectLst/>
                <a:latin typeface="Times New Roman" panose="02020603050405020304" pitchFamily="18" charset="0"/>
                <a:cs typeface="Times New Roman" panose="02020603050405020304" pitchFamily="18" charset="0"/>
              </a:rPr>
              <a:t> The Bakery Algorithm ensures that there is no deadlock situation in the system.</a:t>
            </a: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No starvation:</a:t>
            </a:r>
            <a:r>
              <a:rPr lang="en-US" sz="2000" b="0" i="0" dirty="0" smtClean="0">
                <a:solidFill>
                  <a:srgbClr val="273239"/>
                </a:solidFill>
                <a:effectLst/>
                <a:latin typeface="Times New Roman" panose="02020603050405020304" pitchFamily="18" charset="0"/>
                <a:cs typeface="Times New Roman" panose="02020603050405020304" pitchFamily="18" charset="0"/>
              </a:rPr>
              <a:t> The algorithm also ensures that there is no starvation of any process, as every process gets a fair chance to enter the critical section.</a:t>
            </a:r>
          </a:p>
          <a:p>
            <a:pPr fontAlgn="base"/>
            <a:r>
              <a:rPr lang="en-US" sz="2000" b="1" i="0" u="sng" dirty="0" smtClean="0">
                <a:solidFill>
                  <a:srgbClr val="273239"/>
                </a:solidFill>
                <a:effectLst/>
                <a:latin typeface="Times New Roman" panose="02020603050405020304" pitchFamily="18" charset="0"/>
                <a:cs typeface="Times New Roman" panose="02020603050405020304" pitchFamily="18" charset="0"/>
              </a:rPr>
              <a:t>Disadvantages Bakery Algorithm:</a:t>
            </a:r>
            <a:endParaRPr lang="en-US" sz="2000" b="0" i="0" u="sng" dirty="0" smtClean="0">
              <a:solidFill>
                <a:srgbClr val="273239"/>
              </a:solidFill>
              <a:effectLst/>
              <a:latin typeface="Times New Roman" panose="02020603050405020304" pitchFamily="18" charset="0"/>
              <a:cs typeface="Times New Roman" panose="02020603050405020304" pitchFamily="18" charset="0"/>
            </a:endParaRP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Not Scalable: </a:t>
            </a:r>
            <a:r>
              <a:rPr lang="en-US" sz="2000" b="0" i="0" dirty="0" smtClean="0">
                <a:solidFill>
                  <a:srgbClr val="273239"/>
                </a:solidFill>
                <a:effectLst/>
                <a:latin typeface="Times New Roman" panose="02020603050405020304" pitchFamily="18" charset="0"/>
                <a:cs typeface="Times New Roman" panose="02020603050405020304" pitchFamily="18" charset="0"/>
              </a:rPr>
              <a:t>The Bakery Algorithm is not scalable, as the overhead of the algorithm increases with the number of processes in the system.</a:t>
            </a: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High Time Complexity: </a:t>
            </a:r>
            <a:r>
              <a:rPr lang="en-US" sz="2000" b="0" i="0" dirty="0" smtClean="0">
                <a:solidFill>
                  <a:srgbClr val="273239"/>
                </a:solidFill>
                <a:effectLst/>
                <a:latin typeface="Times New Roman" panose="02020603050405020304" pitchFamily="18" charset="0"/>
                <a:cs typeface="Times New Roman" panose="02020603050405020304" pitchFamily="18" charset="0"/>
              </a:rPr>
              <a:t>The algorithm has a high time complexity, which increases as the number of processes in the system increases. This can result in performance issues in systems with a large number of processes.</a:t>
            </a: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Busy Waiting:</a:t>
            </a:r>
            <a:r>
              <a:rPr lang="en-US" sz="2000" b="0" i="0" dirty="0" smtClean="0">
                <a:solidFill>
                  <a:srgbClr val="273239"/>
                </a:solidFill>
                <a:effectLst/>
                <a:latin typeface="Times New Roman" panose="02020603050405020304" pitchFamily="18" charset="0"/>
                <a:cs typeface="Times New Roman" panose="02020603050405020304" pitchFamily="18" charset="0"/>
              </a:rPr>
              <a:t> The algorithm requires busy waiting, which can lead to wastage of CPU cycles and increased power consumption.</a:t>
            </a:r>
          </a:p>
          <a:p>
            <a:pPr fontAlgn="base">
              <a:buFont typeface="Arial" panose="020B0604020202020204" pitchFamily="34" charset="0"/>
              <a:buChar char="•"/>
            </a:pPr>
            <a:r>
              <a:rPr lang="en-US" sz="2000" b="1" i="0" dirty="0" smtClean="0">
                <a:solidFill>
                  <a:srgbClr val="273239"/>
                </a:solidFill>
                <a:effectLst/>
                <a:latin typeface="Times New Roman" panose="02020603050405020304" pitchFamily="18" charset="0"/>
                <a:cs typeface="Times New Roman" panose="02020603050405020304" pitchFamily="18" charset="0"/>
              </a:rPr>
              <a:t>Memory Overhead:</a:t>
            </a:r>
            <a:r>
              <a:rPr lang="en-US" sz="2000" b="0" i="0" dirty="0" smtClean="0">
                <a:solidFill>
                  <a:srgbClr val="273239"/>
                </a:solidFill>
                <a:effectLst/>
                <a:latin typeface="Times New Roman" panose="02020603050405020304" pitchFamily="18" charset="0"/>
                <a:cs typeface="Times New Roman" panose="02020603050405020304" pitchFamily="18" charset="0"/>
              </a:rPr>
              <a:t> The algorithm requires extra memory to store the turn number and flag values, which can lead to increased memory overhead in systems with a large number of processes</a:t>
            </a:r>
            <a:r>
              <a:rPr lang="en-US" sz="2000" b="0" i="0" dirty="0" smtClean="0">
                <a:solidFill>
                  <a:srgbClr val="273239"/>
                </a:solidFill>
                <a:effectLst/>
              </a:rPr>
              <a:t>.</a:t>
            </a:r>
            <a:endParaRPr lang="en-US" sz="2000" b="0" i="0" dirty="0">
              <a:solidFill>
                <a:srgbClr val="273239"/>
              </a:solidFill>
              <a:effectLst/>
            </a:endParaRPr>
          </a:p>
        </p:txBody>
      </p:sp>
    </p:spTree>
    <p:extLst>
      <p:ext uri="{BB962C8B-B14F-4D97-AF65-F5344CB8AC3E}">
        <p14:creationId xmlns:p14="http://schemas.microsoft.com/office/powerpoint/2010/main" val="3608334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utpu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686" y="1001486"/>
            <a:ext cx="8302171" cy="538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577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98323"/>
          </a:xfrm>
        </p:spPr>
        <p:txBody>
          <a:bodyPr/>
          <a:lstStyle/>
          <a:p>
            <a:r>
              <a:rPr lang="en-US" dirty="0" smtClean="0"/>
              <a:t>Thread pool</a:t>
            </a:r>
            <a:endParaRPr lang="en-US" dirty="0"/>
          </a:p>
        </p:txBody>
      </p:sp>
      <p:sp>
        <p:nvSpPr>
          <p:cNvPr id="3" name="Subtitle 2"/>
          <p:cNvSpPr>
            <a:spLocks noGrp="1"/>
          </p:cNvSpPr>
          <p:nvPr>
            <p:ph type="subTitle" idx="1"/>
          </p:nvPr>
        </p:nvSpPr>
        <p:spPr>
          <a:xfrm>
            <a:off x="1523999" y="2423887"/>
            <a:ext cx="9492343" cy="3918856"/>
          </a:xfrm>
        </p:spPr>
        <p:txBody>
          <a:bodyPr>
            <a:normAutofit/>
          </a:bodyPr>
          <a:lstStyle/>
          <a:p>
            <a:r>
              <a:rPr lang="en-US" dirty="0"/>
              <a:t>In </a:t>
            </a:r>
            <a:r>
              <a:rPr lang="en-US" dirty="0">
                <a:hlinkClick r:id="rId2" tooltip="Computer programming"/>
              </a:rPr>
              <a:t>computer programming</a:t>
            </a:r>
            <a:r>
              <a:rPr lang="en-US" dirty="0"/>
              <a:t>, a </a:t>
            </a:r>
            <a:r>
              <a:rPr lang="en-US" b="1" dirty="0"/>
              <a:t>thread pool</a:t>
            </a:r>
            <a:r>
              <a:rPr lang="en-US" dirty="0"/>
              <a:t> is a </a:t>
            </a:r>
            <a:r>
              <a:rPr lang="en-US" dirty="0">
                <a:hlinkClick r:id="rId3" tooltip="Software design pattern"/>
              </a:rPr>
              <a:t>software design pattern</a:t>
            </a:r>
            <a:r>
              <a:rPr lang="en-US" dirty="0"/>
              <a:t> for achieving </a:t>
            </a:r>
            <a:r>
              <a:rPr lang="en-US" dirty="0">
                <a:hlinkClick r:id="rId4" tooltip="Concurrency (computer science)"/>
              </a:rPr>
              <a:t>concurrency</a:t>
            </a:r>
            <a:r>
              <a:rPr lang="en-US" dirty="0"/>
              <a:t> of execution in a computer program. Often also called a </a:t>
            </a:r>
            <a:r>
              <a:rPr lang="en-US" b="1" dirty="0"/>
              <a:t>replicated workers</a:t>
            </a:r>
            <a:r>
              <a:rPr lang="en-US" dirty="0"/>
              <a:t> or </a:t>
            </a:r>
            <a:r>
              <a:rPr lang="en-US" b="1" dirty="0"/>
              <a:t>worker-crew model</a:t>
            </a:r>
            <a:r>
              <a:rPr lang="en-US" dirty="0"/>
              <a:t>,</a:t>
            </a:r>
            <a:r>
              <a:rPr lang="en-US" baseline="30000" dirty="0">
                <a:hlinkClick r:id="rId5"/>
              </a:rPr>
              <a:t>[1]</a:t>
            </a:r>
            <a:r>
              <a:rPr lang="en-US" dirty="0"/>
              <a:t> a thread pool maintains multiple </a:t>
            </a:r>
            <a:r>
              <a:rPr lang="en-US" dirty="0">
                <a:hlinkClick r:id="rId6" tooltip="Thread (computer science)"/>
              </a:rPr>
              <a:t>threads</a:t>
            </a:r>
            <a:r>
              <a:rPr lang="en-US" dirty="0"/>
              <a:t> waiting for </a:t>
            </a:r>
            <a:r>
              <a:rPr lang="en-US" dirty="0">
                <a:hlinkClick r:id="rId7" tooltip="Task (computers)"/>
              </a:rPr>
              <a:t>tasks</a:t>
            </a:r>
            <a:r>
              <a:rPr lang="en-US" dirty="0"/>
              <a:t> to be allocated for </a:t>
            </a:r>
            <a:r>
              <a:rPr lang="en-US" dirty="0">
                <a:hlinkClick r:id="rId8" tooltip="Concurrent computing"/>
              </a:rPr>
              <a:t>concurrent</a:t>
            </a:r>
            <a:r>
              <a:rPr lang="en-US" dirty="0"/>
              <a:t> execution by the supervising program. By maintaining a pool of threads, the model increases performance and avoids latency in execution due to frequent creation and destruction of threads for short-lived tasks.</a:t>
            </a:r>
            <a:r>
              <a:rPr lang="en-US" baseline="30000" dirty="0">
                <a:hlinkClick r:id="rId9"/>
              </a:rPr>
              <a:t>[2]</a:t>
            </a:r>
            <a:r>
              <a:rPr lang="en-US" dirty="0"/>
              <a:t> The number of available threads is tuned to the computing resources available to the program, such as a parallel task queue after completion of execution</a:t>
            </a:r>
          </a:p>
        </p:txBody>
      </p:sp>
    </p:spTree>
    <p:extLst>
      <p:ext uri="{BB962C8B-B14F-4D97-AF65-F5344CB8AC3E}">
        <p14:creationId xmlns:p14="http://schemas.microsoft.com/office/powerpoint/2010/main" val="2708480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114" y="813152"/>
            <a:ext cx="12192000" cy="5632311"/>
          </a:xfrm>
          <a:prstGeom prst="rect">
            <a:avLst/>
          </a:prstGeom>
        </p:spPr>
        <p:txBody>
          <a:bodyPr wrap="square">
            <a:spAutoFit/>
          </a:bodyPr>
          <a:lstStyle/>
          <a:p>
            <a:r>
              <a:rPr lang="en-US" sz="2400" b="0" i="0" dirty="0" smtClean="0">
                <a:solidFill>
                  <a:srgbClr val="202122"/>
                </a:solidFill>
                <a:effectLst/>
                <a:latin typeface="Times New Roman" panose="02020603050405020304" pitchFamily="18" charset="0"/>
                <a:cs typeface="Times New Roman" panose="02020603050405020304" pitchFamily="18" charset="0"/>
              </a:rPr>
              <a:t>The size of a thread pool is the number of threads kept in reserve for executing tasks. It is usually a tunable parameter of the application, adjusted to optimize program performance.</a:t>
            </a:r>
            <a:r>
              <a:rPr lang="en-US" sz="2400" b="0" i="0" u="none" strike="noStrike" baseline="30000" dirty="0" smtClean="0">
                <a:solidFill>
                  <a:srgbClr val="3366CC"/>
                </a:solidFill>
                <a:effectLst/>
                <a:latin typeface="Times New Roman" panose="02020603050405020304" pitchFamily="18" charset="0"/>
                <a:cs typeface="Times New Roman" panose="02020603050405020304" pitchFamily="18" charset="0"/>
                <a:hlinkClick r:id="rId2"/>
              </a:rPr>
              <a:t>[3]</a:t>
            </a:r>
            <a:r>
              <a:rPr lang="en-US" sz="2400" b="0" i="0" dirty="0" smtClean="0">
                <a:solidFill>
                  <a:srgbClr val="202122"/>
                </a:solidFill>
                <a:effectLst/>
                <a:latin typeface="Times New Roman" panose="02020603050405020304" pitchFamily="18" charset="0"/>
                <a:cs typeface="Times New Roman" panose="02020603050405020304" pitchFamily="18" charset="0"/>
              </a:rPr>
              <a:t> Deciding the optimal thread pool size is crucial to optimize performance.</a:t>
            </a:r>
          </a:p>
          <a:p>
            <a:r>
              <a:rPr lang="en-US" sz="2400" b="0" i="0" dirty="0" smtClean="0">
                <a:solidFill>
                  <a:srgbClr val="202122"/>
                </a:solidFill>
                <a:effectLst/>
                <a:latin typeface="Times New Roman" panose="02020603050405020304" pitchFamily="18" charset="0"/>
                <a:cs typeface="Times New Roman" panose="02020603050405020304" pitchFamily="18" charset="0"/>
              </a:rPr>
              <a:t>One benefit of a thread pool over creating a new thread for each task is that thread creation and destruction overhead is restricted to the initial creation of the pool, which may result in better </a:t>
            </a:r>
            <a:r>
              <a:rPr lang="en-US" sz="2400" b="0" i="0" u="none" strike="noStrike" dirty="0" smtClean="0">
                <a:solidFill>
                  <a:srgbClr val="3366CC"/>
                </a:solidFill>
                <a:effectLst/>
                <a:latin typeface="Times New Roman" panose="02020603050405020304" pitchFamily="18" charset="0"/>
                <a:cs typeface="Times New Roman" panose="02020603050405020304" pitchFamily="18" charset="0"/>
                <a:hlinkClick r:id="rId3" tooltip="Performance tuning"/>
              </a:rPr>
              <a:t>performance</a:t>
            </a:r>
            <a:r>
              <a:rPr lang="en-US" sz="2400" b="0" i="0" dirty="0" smtClean="0">
                <a:solidFill>
                  <a:srgbClr val="202122"/>
                </a:solidFill>
                <a:effectLst/>
                <a:latin typeface="Times New Roman" panose="02020603050405020304" pitchFamily="18" charset="0"/>
                <a:cs typeface="Times New Roman" panose="02020603050405020304" pitchFamily="18" charset="0"/>
              </a:rPr>
              <a:t> and better system </a:t>
            </a:r>
            <a:r>
              <a:rPr lang="en-US" sz="2400" b="0" i="0" u="none" strike="noStrike" dirty="0" smtClean="0">
                <a:solidFill>
                  <a:srgbClr val="3366CC"/>
                </a:solidFill>
                <a:effectLst/>
                <a:latin typeface="Times New Roman" panose="02020603050405020304" pitchFamily="18" charset="0"/>
                <a:cs typeface="Times New Roman" panose="02020603050405020304" pitchFamily="18" charset="0"/>
                <a:hlinkClick r:id="rId4" tooltip="Stability Model"/>
              </a:rPr>
              <a:t>stability</a:t>
            </a:r>
            <a:r>
              <a:rPr lang="en-US" sz="2400" b="0" i="0" dirty="0" smtClean="0">
                <a:solidFill>
                  <a:srgbClr val="202122"/>
                </a:solidFill>
                <a:effectLst/>
                <a:latin typeface="Times New Roman" panose="02020603050405020304" pitchFamily="18" charset="0"/>
                <a:cs typeface="Times New Roman" panose="02020603050405020304" pitchFamily="18" charset="0"/>
              </a:rPr>
              <a:t>. Creating and destroying a thread and its associated resources can be an expensive process in terms of time. An excessive number of threads in reserve, however, wastes memory, and context-switching between the runnable threads invokes performance penalties. A socket connection to another network host, which might take many CPU cycles to drop and re-establish, can be maintained more efficiently by associating it with a thread that lives over the course of more than one network transaction.</a:t>
            </a:r>
          </a:p>
          <a:p>
            <a:r>
              <a:rPr lang="en-US" sz="2400" b="0" i="0" dirty="0" smtClean="0">
                <a:solidFill>
                  <a:srgbClr val="202122"/>
                </a:solidFill>
                <a:effectLst/>
                <a:latin typeface="Times New Roman" panose="02020603050405020304" pitchFamily="18" charset="0"/>
                <a:cs typeface="Times New Roman" panose="02020603050405020304" pitchFamily="18" charset="0"/>
              </a:rPr>
              <a:t>Using a thread pool may be useful even putting aside thread startup time. There are implementations of thread pools that make it trivial to queue up work, control concurrency and sync threads at a higher level than can be done easily when manually managing threads.</a:t>
            </a:r>
            <a:r>
              <a:rPr lang="en-US" sz="2400" b="0" i="0" u="none" strike="noStrike" baseline="30000" dirty="0" smtClean="0">
                <a:solidFill>
                  <a:srgbClr val="3366CC"/>
                </a:solidFill>
                <a:effectLst/>
                <a:latin typeface="Times New Roman" panose="02020603050405020304" pitchFamily="18" charset="0"/>
                <a:cs typeface="Times New Roman" panose="02020603050405020304" pitchFamily="18" charset="0"/>
                <a:hlinkClick r:id="rId5"/>
              </a:rPr>
              <a:t>[4]</a:t>
            </a:r>
            <a:r>
              <a:rPr lang="en-US" sz="2400" b="0" i="0" u="none" strike="noStrike" baseline="30000" dirty="0" smtClean="0">
                <a:solidFill>
                  <a:srgbClr val="3366CC"/>
                </a:solidFill>
                <a:effectLst/>
                <a:latin typeface="Times New Roman" panose="02020603050405020304" pitchFamily="18" charset="0"/>
                <a:cs typeface="Times New Roman" panose="02020603050405020304" pitchFamily="18" charset="0"/>
                <a:hlinkClick r:id="rId6"/>
              </a:rPr>
              <a:t>[5]</a:t>
            </a:r>
            <a:r>
              <a:rPr lang="en-US" sz="2400" b="0" i="0" dirty="0" smtClean="0">
                <a:solidFill>
                  <a:srgbClr val="202122"/>
                </a:solidFill>
                <a:effectLst/>
                <a:latin typeface="Times New Roman" panose="02020603050405020304" pitchFamily="18" charset="0"/>
                <a:cs typeface="Times New Roman" panose="02020603050405020304" pitchFamily="18" charset="0"/>
              </a:rPr>
              <a:t> In these cases the performance benefits of use may be secondary.</a:t>
            </a:r>
          </a:p>
        </p:txBody>
      </p:sp>
    </p:spTree>
    <p:extLst>
      <p:ext uri="{BB962C8B-B14F-4D97-AF65-F5344CB8AC3E}">
        <p14:creationId xmlns:p14="http://schemas.microsoft.com/office/powerpoint/2010/main" val="417962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4057" y="197346"/>
            <a:ext cx="10276114" cy="6370975"/>
          </a:xfrm>
          <a:prstGeom prst="rect">
            <a:avLst/>
          </a:prstGeom>
        </p:spPr>
        <p:txBody>
          <a:bodyPr wrap="square">
            <a:spAutoFit/>
          </a:bodyPr>
          <a:lstStyle/>
          <a:p>
            <a:r>
              <a:rPr lang="en-US" sz="2400" b="0" i="0" dirty="0" smtClean="0">
                <a:solidFill>
                  <a:srgbClr val="202122"/>
                </a:solidFill>
                <a:effectLst/>
                <a:latin typeface="Times New Roman" panose="02020603050405020304" pitchFamily="18" charset="0"/>
                <a:cs typeface="Times New Roman" panose="02020603050405020304" pitchFamily="18" charset="0"/>
              </a:rPr>
              <a:t>Typically, a thread pool executes on a single computer. However, thread pools are conceptually related to </a:t>
            </a:r>
            <a:r>
              <a:rPr lang="en-US" sz="2400" b="0" i="0" u="none" strike="noStrike" dirty="0" smtClean="0">
                <a:solidFill>
                  <a:srgbClr val="3366CC"/>
                </a:solidFill>
                <a:effectLst/>
                <a:latin typeface="Times New Roman" panose="02020603050405020304" pitchFamily="18" charset="0"/>
                <a:cs typeface="Times New Roman" panose="02020603050405020304" pitchFamily="18" charset="0"/>
                <a:hlinkClick r:id="rId2" tooltip="Server farm"/>
              </a:rPr>
              <a:t>server farms</a:t>
            </a:r>
            <a:r>
              <a:rPr lang="en-US" sz="2400" b="0" i="0" dirty="0" smtClean="0">
                <a:solidFill>
                  <a:srgbClr val="202122"/>
                </a:solidFill>
                <a:effectLst/>
                <a:latin typeface="Times New Roman" panose="02020603050405020304" pitchFamily="18" charset="0"/>
                <a:cs typeface="Times New Roman" panose="02020603050405020304" pitchFamily="18" charset="0"/>
              </a:rPr>
              <a:t> in which a master process, which might be a thread pool itself, distributes tasks to worker processes on different computers, in order to increase the overall throughput. </a:t>
            </a:r>
            <a:r>
              <a:rPr lang="en-US" sz="2400" b="0" i="0" u="none" strike="noStrike" dirty="0" smtClean="0">
                <a:solidFill>
                  <a:srgbClr val="3366CC"/>
                </a:solidFill>
                <a:effectLst/>
                <a:latin typeface="Times New Roman" panose="02020603050405020304" pitchFamily="18" charset="0"/>
                <a:cs typeface="Times New Roman" panose="02020603050405020304" pitchFamily="18" charset="0"/>
                <a:hlinkClick r:id="rId3" tooltip="Embarrassingly parallel"/>
              </a:rPr>
              <a:t>Embarrassingly parallel</a:t>
            </a:r>
            <a:r>
              <a:rPr lang="en-US" sz="2400" b="0" i="0" dirty="0" smtClean="0">
                <a:solidFill>
                  <a:srgbClr val="202122"/>
                </a:solidFill>
                <a:effectLst/>
                <a:latin typeface="Times New Roman" panose="02020603050405020304" pitchFamily="18" charset="0"/>
                <a:cs typeface="Times New Roman" panose="02020603050405020304" pitchFamily="18" charset="0"/>
              </a:rPr>
              <a:t> problems are highly amenable to this approach.</a:t>
            </a:r>
            <a:r>
              <a:rPr lang="en-US" sz="2400" b="0" i="0" baseline="30000" dirty="0" smtClean="0">
                <a:solidFill>
                  <a:srgbClr val="202122"/>
                </a:solidFill>
                <a:effectLst/>
                <a:latin typeface="Times New Roman" panose="02020603050405020304" pitchFamily="18" charset="0"/>
                <a:cs typeface="Times New Roman" panose="02020603050405020304" pitchFamily="18" charset="0"/>
              </a:rPr>
              <a:t>[</a:t>
            </a:r>
            <a:r>
              <a:rPr lang="en-US" sz="2400" b="0" i="1" u="none" strike="noStrike" baseline="30000" dirty="0" smtClean="0">
                <a:solidFill>
                  <a:srgbClr val="3366CC"/>
                </a:solidFill>
                <a:effectLst/>
                <a:latin typeface="Times New Roman" panose="02020603050405020304" pitchFamily="18" charset="0"/>
                <a:cs typeface="Times New Roman" panose="02020603050405020304" pitchFamily="18" charset="0"/>
                <a:hlinkClick r:id="rId4" tooltip="Wikipedia:Citation needed"/>
              </a:rPr>
              <a:t>citation needed</a:t>
            </a:r>
            <a:r>
              <a:rPr lang="en-US" sz="2400" b="0" i="0" baseline="30000" dirty="0" smtClean="0">
                <a:solidFill>
                  <a:srgbClr val="202122"/>
                </a:solidFill>
                <a:effectLst/>
                <a:latin typeface="Times New Roman" panose="02020603050405020304" pitchFamily="18" charset="0"/>
                <a:cs typeface="Times New Roman" panose="02020603050405020304" pitchFamily="18" charset="0"/>
              </a:rPr>
              <a:t>]</a:t>
            </a:r>
            <a:endParaRPr lang="en-US" sz="2400" b="0" i="0" dirty="0" smtClean="0">
              <a:solidFill>
                <a:srgbClr val="202122"/>
              </a:solidFill>
              <a:effectLst/>
              <a:latin typeface="Times New Roman" panose="02020603050405020304" pitchFamily="18" charset="0"/>
              <a:cs typeface="Times New Roman" panose="02020603050405020304" pitchFamily="18" charset="0"/>
            </a:endParaRPr>
          </a:p>
          <a:p>
            <a:r>
              <a:rPr lang="en-US" sz="2400" b="0" i="0" dirty="0" smtClean="0">
                <a:solidFill>
                  <a:srgbClr val="202122"/>
                </a:solidFill>
                <a:effectLst/>
                <a:latin typeface="Times New Roman" panose="02020603050405020304" pitchFamily="18" charset="0"/>
                <a:cs typeface="Times New Roman" panose="02020603050405020304" pitchFamily="18" charset="0"/>
              </a:rPr>
              <a:t>The number of threads may be dynamically adjusted during the lifetime of an application based on the number of waiting tasks. For example, a </a:t>
            </a:r>
            <a:r>
              <a:rPr lang="en-US" sz="2400" b="0" i="0" u="none" strike="noStrike" dirty="0" smtClean="0">
                <a:solidFill>
                  <a:srgbClr val="3366CC"/>
                </a:solidFill>
                <a:effectLst/>
                <a:latin typeface="Times New Roman" panose="02020603050405020304" pitchFamily="18" charset="0"/>
                <a:cs typeface="Times New Roman" panose="02020603050405020304" pitchFamily="18" charset="0"/>
                <a:hlinkClick r:id="rId5" tooltip="Web server"/>
              </a:rPr>
              <a:t>web server</a:t>
            </a:r>
            <a:r>
              <a:rPr lang="en-US" sz="2400" b="0" i="0" dirty="0" smtClean="0">
                <a:solidFill>
                  <a:srgbClr val="202122"/>
                </a:solidFill>
                <a:effectLst/>
                <a:latin typeface="Times New Roman" panose="02020603050405020304" pitchFamily="18" charset="0"/>
                <a:cs typeface="Times New Roman" panose="02020603050405020304" pitchFamily="18" charset="0"/>
              </a:rPr>
              <a:t> can add threads if numerous </a:t>
            </a:r>
            <a:r>
              <a:rPr lang="en-US" sz="2400" b="0" i="0" u="none" strike="noStrike" dirty="0" smtClean="0">
                <a:solidFill>
                  <a:srgbClr val="3366CC"/>
                </a:solidFill>
                <a:effectLst/>
                <a:latin typeface="Times New Roman" panose="02020603050405020304" pitchFamily="18" charset="0"/>
                <a:cs typeface="Times New Roman" panose="02020603050405020304" pitchFamily="18" charset="0"/>
                <a:hlinkClick r:id="rId6" tooltip="Web page"/>
              </a:rPr>
              <a:t>web page</a:t>
            </a:r>
            <a:r>
              <a:rPr lang="en-US" sz="2400" b="0" i="0" dirty="0" smtClean="0">
                <a:solidFill>
                  <a:srgbClr val="202122"/>
                </a:solidFill>
                <a:effectLst/>
                <a:latin typeface="Times New Roman" panose="02020603050405020304" pitchFamily="18" charset="0"/>
                <a:cs typeface="Times New Roman" panose="02020603050405020304" pitchFamily="18" charset="0"/>
              </a:rPr>
              <a:t> requests come in and can remove threads when those requests taper down.</a:t>
            </a:r>
            <a:r>
              <a:rPr lang="en-US" sz="2400" b="0" i="0" baseline="30000" dirty="0" smtClean="0">
                <a:solidFill>
                  <a:srgbClr val="202122"/>
                </a:solidFill>
                <a:effectLst/>
                <a:latin typeface="Times New Roman" panose="02020603050405020304" pitchFamily="18" charset="0"/>
                <a:cs typeface="Times New Roman" panose="02020603050405020304" pitchFamily="18" charset="0"/>
              </a:rPr>
              <a:t>[</a:t>
            </a:r>
            <a:r>
              <a:rPr lang="en-US" sz="2400" b="0" i="1" u="none" strike="noStrike" baseline="30000" dirty="0" smtClean="0">
                <a:solidFill>
                  <a:srgbClr val="3366CC"/>
                </a:solidFill>
                <a:effectLst/>
                <a:latin typeface="Times New Roman" panose="02020603050405020304" pitchFamily="18" charset="0"/>
                <a:cs typeface="Times New Roman" panose="02020603050405020304" pitchFamily="18" charset="0"/>
                <a:hlinkClick r:id="rId7" tooltip="Wikipedia:Disputed statement"/>
              </a:rPr>
              <a:t>disputed</a:t>
            </a:r>
            <a:r>
              <a:rPr lang="en-US" sz="2400" b="0" i="1" baseline="30000" dirty="0" smtClean="0">
                <a:solidFill>
                  <a:srgbClr val="202122"/>
                </a:solidFill>
                <a:effectLst/>
                <a:latin typeface="Times New Roman" panose="02020603050405020304" pitchFamily="18" charset="0"/>
                <a:cs typeface="Times New Roman" panose="02020603050405020304" pitchFamily="18" charset="0"/>
              </a:rPr>
              <a:t> – </a:t>
            </a:r>
            <a:r>
              <a:rPr lang="en-US" sz="2400" b="0" i="1" u="none" strike="noStrike" baseline="30000" dirty="0" smtClean="0">
                <a:solidFill>
                  <a:srgbClr val="3366CC"/>
                </a:solidFill>
                <a:effectLst/>
                <a:latin typeface="Times New Roman" panose="02020603050405020304" pitchFamily="18" charset="0"/>
                <a:cs typeface="Times New Roman" panose="02020603050405020304" pitchFamily="18" charset="0"/>
                <a:hlinkClick r:id="rId8" tooltip="Talk:Thread pool"/>
              </a:rPr>
              <a:t>discuss</a:t>
            </a:r>
            <a:r>
              <a:rPr lang="en-US" sz="2400" b="0" i="0" baseline="30000" dirty="0" smtClean="0">
                <a:solidFill>
                  <a:srgbClr val="202122"/>
                </a:solidFill>
                <a:effectLst/>
                <a:latin typeface="Times New Roman" panose="02020603050405020304" pitchFamily="18" charset="0"/>
                <a:cs typeface="Times New Roman" panose="02020603050405020304" pitchFamily="18" charset="0"/>
              </a:rPr>
              <a:t>]</a:t>
            </a:r>
            <a:r>
              <a:rPr lang="en-US" sz="2400" b="0" i="0" dirty="0" smtClean="0">
                <a:solidFill>
                  <a:srgbClr val="202122"/>
                </a:solidFill>
                <a:effectLst/>
                <a:latin typeface="Times New Roman" panose="02020603050405020304" pitchFamily="18" charset="0"/>
                <a:cs typeface="Times New Roman" panose="02020603050405020304" pitchFamily="18" charset="0"/>
              </a:rPr>
              <a:t> The cost of having a larger thread pool is increased resource usage. The algorithm used to determine when to create or destroy threads affects the overall performance:</a:t>
            </a:r>
          </a:p>
          <a:p>
            <a:pPr>
              <a:buFont typeface="Arial" panose="020B0604020202020204" pitchFamily="34" charset="0"/>
              <a:buChar char="•"/>
            </a:pPr>
            <a:r>
              <a:rPr lang="en-US" sz="2400" b="0" i="0" dirty="0" smtClean="0">
                <a:solidFill>
                  <a:srgbClr val="202122"/>
                </a:solidFill>
                <a:effectLst/>
                <a:latin typeface="Times New Roman" panose="02020603050405020304" pitchFamily="18" charset="0"/>
                <a:cs typeface="Times New Roman" panose="02020603050405020304" pitchFamily="18" charset="0"/>
              </a:rPr>
              <a:t>Creating too many threads wastes resources and costs time creating the unused threads.</a:t>
            </a:r>
          </a:p>
          <a:p>
            <a:pPr>
              <a:buFont typeface="Arial" panose="020B0604020202020204" pitchFamily="34" charset="0"/>
              <a:buChar char="•"/>
            </a:pPr>
            <a:r>
              <a:rPr lang="en-US" sz="2400" b="0" i="0" dirty="0" smtClean="0">
                <a:solidFill>
                  <a:srgbClr val="202122"/>
                </a:solidFill>
                <a:effectLst/>
                <a:latin typeface="Times New Roman" panose="02020603050405020304" pitchFamily="18" charset="0"/>
                <a:cs typeface="Times New Roman" panose="02020603050405020304" pitchFamily="18" charset="0"/>
              </a:rPr>
              <a:t>Destroying too many threads requires more time later when creating them again.</a:t>
            </a:r>
          </a:p>
          <a:p>
            <a:pPr>
              <a:buFont typeface="Arial" panose="020B0604020202020204" pitchFamily="34" charset="0"/>
              <a:buChar char="•"/>
            </a:pPr>
            <a:r>
              <a:rPr lang="en-US" sz="2400" b="0" i="0" dirty="0" smtClean="0">
                <a:solidFill>
                  <a:srgbClr val="202122"/>
                </a:solidFill>
                <a:effectLst/>
                <a:latin typeface="Times New Roman" panose="02020603050405020304" pitchFamily="18" charset="0"/>
                <a:cs typeface="Times New Roman" panose="02020603050405020304" pitchFamily="18" charset="0"/>
              </a:rPr>
              <a:t>Creating threads too slowly might result in poor client performance (long wait times).</a:t>
            </a:r>
          </a:p>
          <a:p>
            <a:pPr>
              <a:buFont typeface="Arial" panose="020B0604020202020204" pitchFamily="34" charset="0"/>
              <a:buChar char="•"/>
            </a:pPr>
            <a:r>
              <a:rPr lang="en-US" sz="2400" b="0" i="0" dirty="0" smtClean="0">
                <a:solidFill>
                  <a:srgbClr val="202122"/>
                </a:solidFill>
                <a:effectLst/>
                <a:latin typeface="Times New Roman" panose="02020603050405020304" pitchFamily="18" charset="0"/>
                <a:cs typeface="Times New Roman" panose="02020603050405020304" pitchFamily="18" charset="0"/>
              </a:rPr>
              <a:t>Destroying threads too slowly may starve other processes of resources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967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04686"/>
            <a:ext cx="9144000" cy="754743"/>
          </a:xfrm>
        </p:spPr>
        <p:txBody>
          <a:bodyPr>
            <a:normAutofit fontScale="90000"/>
          </a:bodyPr>
          <a:lstStyle/>
          <a:p>
            <a:r>
              <a:rPr lang="en-US" dirty="0" smtClean="0"/>
              <a:t/>
            </a:r>
            <a:br>
              <a:rPr lang="en-US" dirty="0" smtClean="0"/>
            </a:br>
            <a:r>
              <a:rPr lang="en-US" dirty="0"/>
              <a:t>SYNCHRONIZATION HARDWARE</a:t>
            </a:r>
          </a:p>
        </p:txBody>
      </p:sp>
      <p:sp>
        <p:nvSpPr>
          <p:cNvPr id="3" name="Subtitle 2"/>
          <p:cNvSpPr>
            <a:spLocks noGrp="1"/>
          </p:cNvSpPr>
          <p:nvPr>
            <p:ph type="subTitle" idx="1"/>
          </p:nvPr>
        </p:nvSpPr>
        <p:spPr>
          <a:xfrm>
            <a:off x="261257" y="1959428"/>
            <a:ext cx="11930743" cy="4898571"/>
          </a:xfrm>
        </p:spPr>
        <p:txBody>
          <a:bodyPr>
            <a:normAutofit/>
          </a:bodyPr>
          <a:lstStyle/>
          <a:p>
            <a:r>
              <a:rPr lang="en-US" dirty="0" smtClean="0">
                <a:latin typeface="Times New Roman" panose="02020603050405020304" pitchFamily="18" charset="0"/>
                <a:cs typeface="Times New Roman" panose="02020603050405020304" pitchFamily="18" charset="0"/>
              </a:rPr>
              <a:t>Synchronization </a:t>
            </a:r>
            <a:r>
              <a:rPr lang="en-US" dirty="0">
                <a:latin typeface="Times New Roman" panose="02020603050405020304" pitchFamily="18" charset="0"/>
                <a:cs typeface="Times New Roman" panose="02020603050405020304" pitchFamily="18" charset="0"/>
              </a:rPr>
              <a:t>hardware is a hardware-based solution to resolve the </a:t>
            </a:r>
            <a:r>
              <a:rPr lang="en-US" dirty="0" smtClean="0">
                <a:latin typeface="Times New Roman" panose="02020603050405020304" pitchFamily="18" charset="0"/>
                <a:cs typeface="Times New Roman" panose="02020603050405020304" pitchFamily="18" charset="0"/>
              </a:rPr>
              <a:t>critical section problem. In </a:t>
            </a:r>
            <a:r>
              <a:rPr lang="en-US" dirty="0">
                <a:latin typeface="Times New Roman" panose="02020603050405020304" pitchFamily="18" charset="0"/>
                <a:cs typeface="Times New Roman" panose="02020603050405020304" pitchFamily="18" charset="0"/>
              </a:rPr>
              <a:t>our earlier content of the critical section, we </a:t>
            </a:r>
            <a:r>
              <a:rPr lang="en-US" dirty="0" smtClean="0">
                <a:latin typeface="Times New Roman" panose="02020603050405020304" pitchFamily="18" charset="0"/>
                <a:cs typeface="Times New Roman" panose="02020603050405020304" pitchFamily="18" charset="0"/>
              </a:rPr>
              <a:t>have discussed </a:t>
            </a:r>
            <a:r>
              <a:rPr lang="en-US" dirty="0">
                <a:latin typeface="Times New Roman" panose="02020603050405020304" pitchFamily="18" charset="0"/>
                <a:cs typeface="Times New Roman" panose="02020603050405020304" pitchFamily="18" charset="0"/>
              </a:rPr>
              <a:t>how the multiple </a:t>
            </a:r>
            <a:r>
              <a:rPr lang="en-US" dirty="0" smtClean="0">
                <a:latin typeface="Times New Roman" panose="02020603050405020304" pitchFamily="18" charset="0"/>
                <a:cs typeface="Times New Roman" panose="02020603050405020304" pitchFamily="18" charset="0"/>
              </a:rPr>
              <a:t>processes sharing </a:t>
            </a:r>
            <a:r>
              <a:rPr lang="en-US" dirty="0">
                <a:latin typeface="Times New Roman" panose="02020603050405020304" pitchFamily="18" charset="0"/>
                <a:cs typeface="Times New Roman" panose="02020603050405020304" pitchFamily="18" charset="0"/>
              </a:rPr>
              <a:t>common resources must </a:t>
            </a:r>
            <a:r>
              <a:rPr lang="en-US" dirty="0" smtClean="0">
                <a:latin typeface="Times New Roman" panose="02020603050405020304" pitchFamily="18" charset="0"/>
                <a:cs typeface="Times New Roman" panose="02020603050405020304" pitchFamily="18" charset="0"/>
              </a:rPr>
              <a:t>be synchronized </a:t>
            </a:r>
            <a:r>
              <a:rPr lang="en-US" dirty="0">
                <a:latin typeface="Times New Roman" panose="02020603050405020304" pitchFamily="18" charset="0"/>
                <a:cs typeface="Times New Roman" panose="02020603050405020304" pitchFamily="18" charset="0"/>
              </a:rPr>
              <a:t>to avoid inconsistent </a:t>
            </a:r>
            <a:r>
              <a:rPr lang="en-US" dirty="0" smtClean="0">
                <a:latin typeface="Times New Roman" panose="02020603050405020304" pitchFamily="18" charset="0"/>
                <a:cs typeface="Times New Roman" panose="02020603050405020304" pitchFamily="18" charset="0"/>
              </a:rPr>
              <a:t>results.</a:t>
            </a:r>
          </a:p>
          <a:p>
            <a:r>
              <a:rPr lang="en-US" dirty="0" smtClean="0">
                <a:latin typeface="Times New Roman" panose="02020603050405020304" pitchFamily="18" charset="0"/>
                <a:cs typeface="Times New Roman" panose="02020603050405020304" pitchFamily="18" charset="0"/>
              </a:rPr>
              <a:t>Synchronization </a:t>
            </a:r>
            <a:r>
              <a:rPr lang="en-US" dirty="0">
                <a:latin typeface="Times New Roman" panose="02020603050405020304" pitchFamily="18" charset="0"/>
                <a:cs typeface="Times New Roman" panose="02020603050405020304" pitchFamily="18" charset="0"/>
              </a:rPr>
              <a:t>hardware i.e. hardware-based solution for the critical </a:t>
            </a:r>
            <a:r>
              <a:rPr lang="en-US" dirty="0" smtClean="0">
                <a:latin typeface="Times New Roman" panose="02020603050405020304" pitchFamily="18" charset="0"/>
                <a:cs typeface="Times New Roman" panose="02020603050405020304" pitchFamily="18" charset="0"/>
              </a:rPr>
              <a:t>section problem </a:t>
            </a:r>
            <a:r>
              <a:rPr lang="en-US" dirty="0">
                <a:latin typeface="Times New Roman" panose="02020603050405020304" pitchFamily="18" charset="0"/>
                <a:cs typeface="Times New Roman" panose="02020603050405020304" pitchFamily="18" charset="0"/>
              </a:rPr>
              <a:t>which introduces the </a:t>
            </a:r>
            <a:r>
              <a:rPr lang="en-US" dirty="0" smtClean="0">
                <a:latin typeface="Times New Roman" panose="02020603050405020304" pitchFamily="18" charset="0"/>
                <a:cs typeface="Times New Roman" panose="02020603050405020304" pitchFamily="18" charset="0"/>
              </a:rPr>
              <a:t>hardware instructions </a:t>
            </a:r>
            <a:r>
              <a:rPr lang="en-US" dirty="0">
                <a:latin typeface="Times New Roman" panose="02020603050405020304" pitchFamily="18" charset="0"/>
                <a:cs typeface="Times New Roman" panose="02020603050405020304" pitchFamily="18" charset="0"/>
              </a:rPr>
              <a:t>that can be used </a:t>
            </a:r>
            <a:r>
              <a:rPr lang="en-US" dirty="0" smtClean="0">
                <a:latin typeface="Times New Roman" panose="02020603050405020304" pitchFamily="18" charset="0"/>
                <a:cs typeface="Times New Roman" panose="02020603050405020304" pitchFamily="18" charset="0"/>
              </a:rPr>
              <a:t>to resolve </a:t>
            </a:r>
            <a:r>
              <a:rPr lang="en-US" dirty="0">
                <a:latin typeface="Times New Roman" panose="02020603050405020304" pitchFamily="18" charset="0"/>
                <a:cs typeface="Times New Roman" panose="02020603050405020304" pitchFamily="18" charset="0"/>
              </a:rPr>
              <a:t>the critical section problem effectively.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Hardware </a:t>
            </a:r>
            <a:r>
              <a:rPr lang="en-US" dirty="0">
                <a:latin typeface="Times New Roman" panose="02020603050405020304" pitchFamily="18" charset="0"/>
                <a:cs typeface="Times New Roman" panose="02020603050405020304" pitchFamily="18" charset="0"/>
              </a:rPr>
              <a:t>solutions are </a:t>
            </a:r>
            <a:r>
              <a:rPr lang="en-US" dirty="0" smtClean="0">
                <a:latin typeface="Times New Roman" panose="02020603050405020304" pitchFamily="18" charset="0"/>
                <a:cs typeface="Times New Roman" panose="02020603050405020304" pitchFamily="18" charset="0"/>
              </a:rPr>
              <a:t>often easier </a:t>
            </a:r>
            <a:r>
              <a:rPr lang="en-US" dirty="0">
                <a:latin typeface="Times New Roman" panose="02020603050405020304" pitchFamily="18" charset="0"/>
                <a:cs typeface="Times New Roman" panose="02020603050405020304" pitchFamily="18" charset="0"/>
              </a:rPr>
              <a:t>and also improves the efficiency of the </a:t>
            </a:r>
            <a:r>
              <a:rPr lang="en-US" dirty="0" smtClean="0">
                <a:latin typeface="Times New Roman" panose="02020603050405020304" pitchFamily="18" charset="0"/>
                <a:cs typeface="Times New Roman" panose="02020603050405020304" pitchFamily="18" charset="0"/>
              </a:rPr>
              <a:t>system. Consider</a:t>
            </a:r>
            <a:r>
              <a:rPr lang="en-US" dirty="0">
                <a:latin typeface="Times New Roman" panose="02020603050405020304" pitchFamily="18" charset="0"/>
                <a:cs typeface="Times New Roman" panose="02020603050405020304" pitchFamily="18" charset="0"/>
              </a:rPr>
              <a:t>, a system with a single processor where just by preventing </a:t>
            </a:r>
            <a:r>
              <a:rPr lang="en-US" dirty="0" smtClean="0">
                <a:latin typeface="Times New Roman" panose="02020603050405020304" pitchFamily="18" charset="0"/>
                <a:cs typeface="Times New Roman" panose="02020603050405020304" pitchFamily="18" charset="0"/>
              </a:rPr>
              <a:t>the occurrence </a:t>
            </a:r>
            <a:r>
              <a:rPr lang="en-US" dirty="0">
                <a:latin typeface="Times New Roman" panose="02020603050405020304" pitchFamily="18" charset="0"/>
                <a:cs typeface="Times New Roman" panose="02020603050405020304" pitchFamily="18" charset="0"/>
              </a:rPr>
              <a:t>interrupts while </a:t>
            </a:r>
            <a:r>
              <a:rPr lang="en-US" dirty="0" smtClean="0">
                <a:latin typeface="Times New Roman" panose="02020603050405020304" pitchFamily="18" charset="0"/>
                <a:cs typeface="Times New Roman" panose="02020603050405020304" pitchFamily="18" charset="0"/>
              </a:rPr>
              <a:t>a shared </a:t>
            </a:r>
            <a:r>
              <a:rPr lang="en-US" dirty="0">
                <a:latin typeface="Times New Roman" panose="02020603050405020304" pitchFamily="18" charset="0"/>
                <a:cs typeface="Times New Roman" panose="02020603050405020304" pitchFamily="18" charset="0"/>
              </a:rPr>
              <a:t>variable is being modified can assure </a:t>
            </a:r>
            <a:r>
              <a:rPr lang="en-US" dirty="0" smtClean="0">
                <a:latin typeface="Times New Roman" panose="02020603050405020304" pitchFamily="18" charset="0"/>
                <a:cs typeface="Times New Roman" panose="02020603050405020304" pitchFamily="18" charset="0"/>
              </a:rPr>
              <a:t>that only </a:t>
            </a:r>
            <a:r>
              <a:rPr lang="en-US" dirty="0">
                <a:latin typeface="Times New Roman" panose="02020603050405020304" pitchFamily="18" charset="0"/>
                <a:cs typeface="Times New Roman" panose="02020603050405020304" pitchFamily="18" charset="0"/>
              </a:rPr>
              <a:t>the current sequence of the instructions </a:t>
            </a:r>
            <a:r>
              <a:rPr lang="en-US" dirty="0" smtClean="0">
                <a:latin typeface="Times New Roman" panose="02020603050405020304" pitchFamily="18" charset="0"/>
                <a:cs typeface="Times New Roman" panose="02020603050405020304" pitchFamily="18" charset="0"/>
              </a:rPr>
              <a:t>will be </a:t>
            </a:r>
            <a:r>
              <a:rPr lang="en-US" dirty="0">
                <a:latin typeface="Times New Roman" panose="02020603050405020304" pitchFamily="18" charset="0"/>
                <a:cs typeface="Times New Roman" panose="02020603050405020304" pitchFamily="18" charset="0"/>
              </a:rPr>
              <a:t>executed without </a:t>
            </a:r>
            <a:r>
              <a:rPr lang="en-US" dirty="0" smtClean="0">
                <a:latin typeface="Times New Roman" panose="02020603050405020304" pitchFamily="18" charset="0"/>
                <a:cs typeface="Times New Roman" panose="02020603050405020304" pitchFamily="18" charset="0"/>
              </a:rPr>
              <a:t>any preemption</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52747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986971" y="246742"/>
            <a:ext cx="10624458" cy="10341293"/>
          </a:xfrm>
          <a:prstGeom prst="rect">
            <a:avLst/>
          </a:prstGeom>
        </p:spPr>
        <p:txBody>
          <a:bodyPr wrap="square">
            <a:spAutoFit/>
          </a:bodyPr>
          <a:lstStyle/>
          <a:p>
            <a:r>
              <a:rPr lang="en-US" sz="2400" b="0" i="0" dirty="0" smtClean="0">
                <a:solidFill>
                  <a:srgbClr val="222222"/>
                </a:solidFill>
                <a:effectLst/>
                <a:latin typeface="Times New Roman" panose="02020603050405020304" pitchFamily="18" charset="0"/>
                <a:cs typeface="Times New Roman" panose="02020603050405020304" pitchFamily="18" charset="0"/>
              </a:rPr>
              <a:t>This assures you that no unfair modifications will be made to the shared</a:t>
            </a:r>
          </a:p>
          <a:p>
            <a:r>
              <a:rPr lang="en-US" sz="2400" b="0" i="0" dirty="0" smtClean="0">
                <a:solidFill>
                  <a:srgbClr val="222222"/>
                </a:solidFill>
                <a:effectLst/>
                <a:latin typeface="Times New Roman" panose="02020603050405020304" pitchFamily="18" charset="0"/>
                <a:cs typeface="Times New Roman" panose="02020603050405020304" pitchFamily="18" charset="0"/>
              </a:rPr>
              <a:t>variable. This method is often used by the systems with non-preemptive</a:t>
            </a:r>
          </a:p>
          <a:p>
            <a:r>
              <a:rPr lang="en-US" sz="2400" b="0" i="0" dirty="0" smtClean="0">
                <a:solidFill>
                  <a:srgbClr val="222222"/>
                </a:solidFill>
                <a:effectLst/>
                <a:latin typeface="Times New Roman" panose="02020603050405020304" pitchFamily="18" charset="0"/>
                <a:cs typeface="Times New Roman" panose="02020603050405020304" pitchFamily="18" charset="0"/>
              </a:rPr>
              <a:t>kernels.</a:t>
            </a:r>
          </a:p>
          <a:p>
            <a:r>
              <a:rPr lang="en-US" sz="2400" b="0" i="0" dirty="0" smtClean="0">
                <a:solidFill>
                  <a:srgbClr val="222222"/>
                </a:solidFill>
                <a:effectLst/>
                <a:latin typeface="Times New Roman" panose="02020603050405020304" pitchFamily="18" charset="0"/>
                <a:cs typeface="Times New Roman" panose="02020603050405020304" pitchFamily="18" charset="0"/>
              </a:rPr>
              <a:t>Now, consider the system with multiple processors, where disabling interrupts</a:t>
            </a:r>
          </a:p>
          <a:p>
            <a:r>
              <a:rPr lang="en-US" sz="2400" b="0" i="0" dirty="0" smtClean="0">
                <a:solidFill>
                  <a:srgbClr val="222222"/>
                </a:solidFill>
                <a:effectLst/>
                <a:latin typeface="Times New Roman" panose="02020603050405020304" pitchFamily="18" charset="0"/>
                <a:cs typeface="Times New Roman" panose="02020603050405020304" pitchFamily="18" charset="0"/>
              </a:rPr>
              <a:t>would require a message to be sent to all the processors which would cause </a:t>
            </a:r>
            <a:r>
              <a:rPr lang="en-US" sz="2400" dirty="0" smtClean="0">
                <a:latin typeface="Times New Roman" panose="02020603050405020304" pitchFamily="18" charset="0"/>
                <a:cs typeface="Times New Roman" panose="02020603050405020304" pitchFamily="18" charset="0"/>
              </a:rPr>
              <a:t>unnecessary </a:t>
            </a:r>
            <a:r>
              <a:rPr lang="en-US" sz="2400" dirty="0">
                <a:latin typeface="Times New Roman" panose="02020603050405020304" pitchFamily="18" charset="0"/>
                <a:cs typeface="Times New Roman" panose="02020603050405020304" pitchFamily="18" charset="0"/>
              </a:rPr>
              <a:t>delay to the processes to enter into their critical section. This also</a:t>
            </a:r>
          </a:p>
          <a:p>
            <a:r>
              <a:rPr lang="en-US" sz="2400" dirty="0">
                <a:latin typeface="Times New Roman" panose="02020603050405020304" pitchFamily="18" charset="0"/>
                <a:cs typeface="Times New Roman" panose="02020603050405020304" pitchFamily="18" charset="0"/>
              </a:rPr>
              <a:t>decreases the efficiency of the system.</a:t>
            </a:r>
          </a:p>
          <a:p>
            <a:r>
              <a:rPr lang="en-US" sz="2400" dirty="0">
                <a:latin typeface="Times New Roman" panose="02020603050405020304" pitchFamily="18" charset="0"/>
                <a:cs typeface="Times New Roman" panose="02020603050405020304" pitchFamily="18" charset="0"/>
              </a:rPr>
              <a:t>The hardware-based solution to critical section problem is based on a simple</a:t>
            </a:r>
          </a:p>
          <a:p>
            <a:r>
              <a:rPr lang="en-US" sz="2400" dirty="0">
                <a:latin typeface="Times New Roman" panose="02020603050405020304" pitchFamily="18" charset="0"/>
                <a:cs typeface="Times New Roman" panose="02020603050405020304" pitchFamily="18" charset="0"/>
              </a:rPr>
              <a:t>tool i.e. lock. The solution implies that before entering into the critical section</a:t>
            </a:r>
          </a:p>
          <a:p>
            <a:r>
              <a:rPr lang="en-US" sz="2400" dirty="0">
                <a:latin typeface="Times New Roman" panose="02020603050405020304" pitchFamily="18" charset="0"/>
                <a:cs typeface="Times New Roman" panose="02020603050405020304" pitchFamily="18" charset="0"/>
              </a:rPr>
              <a:t>the process must acquire a lock and must release the lock when it exits its</a:t>
            </a:r>
          </a:p>
          <a:p>
            <a:r>
              <a:rPr lang="en-US" sz="2400" dirty="0">
                <a:latin typeface="Times New Roman" panose="02020603050405020304" pitchFamily="18" charset="0"/>
                <a:cs typeface="Times New Roman" panose="02020603050405020304" pitchFamily="18" charset="0"/>
              </a:rPr>
              <a:t>critical section. Using of lock also prevent the race condition.</a:t>
            </a:r>
          </a:p>
          <a:p>
            <a:r>
              <a:rPr lang="en-US" sz="2400" dirty="0">
                <a:latin typeface="Times New Roman" panose="02020603050405020304" pitchFamily="18" charset="0"/>
                <a:cs typeface="Times New Roman" panose="02020603050405020304" pitchFamily="18" charset="0"/>
              </a:rPr>
              <a:t>The hardware synchronization provides two kinds of hardware instructions that</a:t>
            </a:r>
          </a:p>
          <a:p>
            <a:r>
              <a:rPr lang="en-US" sz="2400" dirty="0">
                <a:latin typeface="Times New Roman" panose="02020603050405020304" pitchFamily="18" charset="0"/>
                <a:cs typeface="Times New Roman" panose="02020603050405020304" pitchFamily="18" charset="0"/>
              </a:rPr>
              <a:t>are </a:t>
            </a:r>
            <a:r>
              <a:rPr lang="en-US" sz="2400" dirty="0" err="1">
                <a:latin typeface="Times New Roman" panose="02020603050405020304" pitchFamily="18" charset="0"/>
                <a:cs typeface="Times New Roman" panose="02020603050405020304" pitchFamily="18" charset="0"/>
              </a:rPr>
              <a:t>TestAndSet</a:t>
            </a:r>
            <a:r>
              <a:rPr lang="en-US" sz="2400" dirty="0">
                <a:latin typeface="Times New Roman" panose="02020603050405020304" pitchFamily="18" charset="0"/>
                <a:cs typeface="Times New Roman" panose="02020603050405020304" pitchFamily="18" charset="0"/>
              </a:rPr>
              <a:t> and Swap. We will discuss each of the instruction briefly. But</a:t>
            </a:r>
          </a:p>
          <a:p>
            <a:r>
              <a:rPr lang="en-US" sz="2400" dirty="0">
                <a:latin typeface="Times New Roman" panose="02020603050405020304" pitchFamily="18" charset="0"/>
                <a:cs typeface="Times New Roman" panose="02020603050405020304" pitchFamily="18" charset="0"/>
              </a:rPr>
              <a:t>before jumping on to the instructions let us discuss what conditions they must</a:t>
            </a:r>
          </a:p>
          <a:p>
            <a:r>
              <a:rPr lang="en-US" sz="2400" dirty="0">
                <a:latin typeface="Times New Roman" panose="02020603050405020304" pitchFamily="18" charset="0"/>
                <a:cs typeface="Times New Roman" panose="02020603050405020304" pitchFamily="18" charset="0"/>
              </a:rPr>
              <a:t>verify to resolve the critical section problem</a:t>
            </a:r>
          </a:p>
          <a:p>
            <a:endParaRPr lang="en-US" b="0" i="0" dirty="0" smtClean="0">
              <a:solidFill>
                <a:srgbClr val="222222"/>
              </a:solidFill>
              <a:effectLst/>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dirty="0">
              <a:solidFill>
                <a:srgbClr val="222222"/>
              </a:solidFill>
              <a:latin typeface="ff2"/>
            </a:endParaRPr>
          </a:p>
          <a:p>
            <a:endParaRPr lang="en-US" b="0" i="0" dirty="0" smtClean="0">
              <a:solidFill>
                <a:srgbClr val="222222"/>
              </a:solidFill>
              <a:effectLst/>
              <a:latin typeface="ff2"/>
            </a:endParaRPr>
          </a:p>
          <a:p>
            <a:endParaRPr lang="en-US" b="0" i="0" dirty="0">
              <a:solidFill>
                <a:srgbClr val="222222"/>
              </a:solidFill>
              <a:effectLst/>
              <a:latin typeface="ff2"/>
            </a:endParaRPr>
          </a:p>
        </p:txBody>
      </p:sp>
    </p:spTree>
    <p:extLst>
      <p:ext uri="{BB962C8B-B14F-4D97-AF65-F5344CB8AC3E}">
        <p14:creationId xmlns:p14="http://schemas.microsoft.com/office/powerpoint/2010/main" val="3635676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85257" y="1088571"/>
            <a:ext cx="8360229" cy="4832092"/>
          </a:xfrm>
          <a:prstGeom prst="rect">
            <a:avLst/>
          </a:prstGeom>
        </p:spPr>
        <p:txBody>
          <a:bodyPr wrap="square">
            <a:spAutoFit/>
          </a:bodyPr>
          <a:lstStyle/>
          <a:p>
            <a:r>
              <a:rPr lang="en-US" sz="2800" b="1" i="0" dirty="0" smtClean="0">
                <a:solidFill>
                  <a:srgbClr val="000000"/>
                </a:solidFill>
                <a:effectLst/>
                <a:latin typeface="Times New Roman" panose="02020603050405020304" pitchFamily="18" charset="0"/>
                <a:cs typeface="Times New Roman" panose="02020603050405020304" pitchFamily="18" charset="0"/>
              </a:rPr>
              <a:t>1</a:t>
            </a:r>
            <a:r>
              <a:rPr lang="en-US" sz="2800" b="0" i="0" dirty="0" smtClean="0">
                <a:solidFill>
                  <a:srgbClr val="000000"/>
                </a:solidFill>
                <a:effectLst/>
                <a:latin typeface="Times New Roman" panose="02020603050405020304" pitchFamily="18" charset="0"/>
                <a:cs typeface="Times New Roman" panose="02020603050405020304" pitchFamily="18" charset="0"/>
              </a:rPr>
              <a:t>. </a:t>
            </a:r>
            <a:r>
              <a:rPr lang="en-US" sz="2800" b="0" i="0" dirty="0" smtClean="0">
                <a:solidFill>
                  <a:srgbClr val="222222"/>
                </a:solidFill>
                <a:effectLst/>
                <a:latin typeface="Times New Roman" panose="02020603050405020304" pitchFamily="18" charset="0"/>
                <a:cs typeface="Times New Roman" panose="02020603050405020304" pitchFamily="18" charset="0"/>
              </a:rPr>
              <a:t>Mutual Exclusion: The hardware instruction must verify that at a point in</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222222"/>
                </a:solidFill>
                <a:effectLst/>
                <a:latin typeface="Times New Roman" panose="02020603050405020304" pitchFamily="18" charset="0"/>
                <a:cs typeface="Times New Roman" panose="02020603050405020304" pitchFamily="18" charset="0"/>
              </a:rPr>
              <a:t>time only one process can be in its critical section.</a:t>
            </a:r>
          </a:p>
          <a:p>
            <a:r>
              <a:rPr lang="en-US" sz="2800" b="1" i="0" dirty="0" smtClean="0">
                <a:solidFill>
                  <a:srgbClr val="000000"/>
                </a:solidFill>
                <a:effectLst/>
                <a:latin typeface="Times New Roman" panose="02020603050405020304" pitchFamily="18" charset="0"/>
                <a:cs typeface="Times New Roman" panose="02020603050405020304" pitchFamily="18" charset="0"/>
              </a:rPr>
              <a:t>2</a:t>
            </a:r>
            <a:r>
              <a:rPr lang="en-US" sz="2800" b="0" i="0" dirty="0" smtClean="0">
                <a:solidFill>
                  <a:srgbClr val="000000"/>
                </a:solidFill>
                <a:effectLst/>
                <a:latin typeface="Times New Roman" panose="02020603050405020304" pitchFamily="18" charset="0"/>
                <a:cs typeface="Times New Roman" panose="02020603050405020304" pitchFamily="18" charset="0"/>
              </a:rPr>
              <a:t>. </a:t>
            </a:r>
            <a:r>
              <a:rPr lang="en-US" sz="2800" b="0" i="0" dirty="0" smtClean="0">
                <a:solidFill>
                  <a:srgbClr val="222222"/>
                </a:solidFill>
                <a:effectLst/>
                <a:latin typeface="Times New Roman" panose="02020603050405020304" pitchFamily="18" charset="0"/>
                <a:cs typeface="Times New Roman" panose="02020603050405020304" pitchFamily="18" charset="0"/>
              </a:rPr>
              <a:t>Bounded Waiting: The processes interested to execute their critical</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222222"/>
                </a:solidFill>
                <a:effectLst/>
                <a:latin typeface="Times New Roman" panose="02020603050405020304" pitchFamily="18" charset="0"/>
                <a:cs typeface="Times New Roman" panose="02020603050405020304" pitchFamily="18" charset="0"/>
              </a:rPr>
              <a:t>section must not wait for long to enter their critical section.</a:t>
            </a:r>
          </a:p>
          <a:p>
            <a:r>
              <a:rPr lang="en-US" sz="2800" b="1" i="0" dirty="0" smtClean="0">
                <a:solidFill>
                  <a:srgbClr val="000000"/>
                </a:solidFill>
                <a:effectLst/>
                <a:latin typeface="Times New Roman" panose="02020603050405020304" pitchFamily="18" charset="0"/>
                <a:cs typeface="Times New Roman" panose="02020603050405020304" pitchFamily="18" charset="0"/>
              </a:rPr>
              <a:t>3</a:t>
            </a:r>
            <a:r>
              <a:rPr lang="en-US" sz="2800" b="0" i="0" dirty="0" smtClean="0">
                <a:solidFill>
                  <a:srgbClr val="000000"/>
                </a:solidFill>
                <a:effectLst/>
                <a:latin typeface="Times New Roman" panose="02020603050405020304" pitchFamily="18" charset="0"/>
                <a:cs typeface="Times New Roman" panose="02020603050405020304" pitchFamily="18" charset="0"/>
              </a:rPr>
              <a:t>. </a:t>
            </a:r>
            <a:r>
              <a:rPr lang="en-US" sz="2800" b="0" i="0" dirty="0" smtClean="0">
                <a:solidFill>
                  <a:srgbClr val="222222"/>
                </a:solidFill>
                <a:effectLst/>
                <a:latin typeface="Times New Roman" panose="02020603050405020304" pitchFamily="18" charset="0"/>
                <a:cs typeface="Times New Roman" panose="02020603050405020304" pitchFamily="18" charset="0"/>
              </a:rPr>
              <a:t>Progress: The process not interested in entering its critical section must</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222222"/>
                </a:solidFill>
                <a:effectLst/>
                <a:latin typeface="Times New Roman" panose="02020603050405020304" pitchFamily="18" charset="0"/>
                <a:cs typeface="Times New Roman" panose="02020603050405020304" pitchFamily="18" charset="0"/>
              </a:rPr>
              <a:t>not block other processes from entering into their critical section.</a:t>
            </a:r>
            <a:endParaRPr lang="en-US" sz="28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510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8343" y="-145143"/>
            <a:ext cx="9144000" cy="1016000"/>
          </a:xfrm>
        </p:spPr>
        <p:txBody>
          <a:bodyPr>
            <a:normAutofit fontScale="90000"/>
          </a:bodyPr>
          <a:lstStyle/>
          <a:p>
            <a:r>
              <a:rPr lang="en-US" dirty="0" smtClean="0"/>
              <a:t/>
            </a:r>
            <a:br>
              <a:rPr lang="en-US" dirty="0" smtClean="0"/>
            </a:br>
            <a:r>
              <a:rPr lang="en-US" b="1" dirty="0" err="1" smtClean="0"/>
              <a:t>TestAndSet</a:t>
            </a:r>
            <a:r>
              <a:rPr lang="en-US" b="1" dirty="0" smtClean="0"/>
              <a:t> Hardware Instruction</a:t>
            </a:r>
            <a:endParaRPr lang="en-US" b="1" dirty="0"/>
          </a:p>
        </p:txBody>
      </p:sp>
      <p:sp>
        <p:nvSpPr>
          <p:cNvPr id="3" name="Subtitle 2"/>
          <p:cNvSpPr>
            <a:spLocks noGrp="1"/>
          </p:cNvSpPr>
          <p:nvPr>
            <p:ph type="subTitle" idx="1"/>
          </p:nvPr>
        </p:nvSpPr>
        <p:spPr>
          <a:xfrm>
            <a:off x="0" y="914399"/>
            <a:ext cx="12322629" cy="5943601"/>
          </a:xfrm>
        </p:spPr>
        <p:txBody>
          <a:bodyPr>
            <a:normAutofit/>
          </a:bodyPr>
          <a:lstStyle/>
          <a:p>
            <a:pPr algn="l"/>
            <a:r>
              <a:rPr lang="en-US" sz="2000" dirty="0" smtClean="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TestAndSet</a:t>
            </a:r>
            <a:r>
              <a:rPr lang="en-US" sz="2000" dirty="0">
                <a:latin typeface="Times New Roman" panose="02020603050405020304" pitchFamily="18" charset="0"/>
                <a:cs typeface="Times New Roman" panose="02020603050405020304" pitchFamily="18" charset="0"/>
              </a:rPr>
              <a:t>() hardware instruction is atomic instruction. Atomic </a:t>
            </a:r>
            <a:r>
              <a:rPr lang="en-US" sz="2000" dirty="0" smtClean="0">
                <a:latin typeface="Times New Roman" panose="02020603050405020304" pitchFamily="18" charset="0"/>
                <a:cs typeface="Times New Roman" panose="02020603050405020304" pitchFamily="18" charset="0"/>
              </a:rPr>
              <a:t>means both </a:t>
            </a:r>
            <a:r>
              <a:rPr lang="en-US" sz="2000" dirty="0">
                <a:latin typeface="Times New Roman" panose="02020603050405020304" pitchFamily="18" charset="0"/>
                <a:cs typeface="Times New Roman" panose="02020603050405020304" pitchFamily="18" charset="0"/>
              </a:rPr>
              <a:t>the test operation and set operation are executed in one machine cycle </a:t>
            </a:r>
            <a:r>
              <a:rPr lang="en-US" sz="2000" dirty="0" smtClean="0">
                <a:latin typeface="Times New Roman" panose="02020603050405020304" pitchFamily="18" charset="0"/>
                <a:cs typeface="Times New Roman" panose="02020603050405020304" pitchFamily="18" charset="0"/>
              </a:rPr>
              <a:t>at once</a:t>
            </a:r>
            <a:r>
              <a:rPr lang="en-US" sz="2000" dirty="0">
                <a:latin typeface="Times New Roman" panose="02020603050405020304" pitchFamily="18" charset="0"/>
                <a:cs typeface="Times New Roman" panose="02020603050405020304" pitchFamily="18" charset="0"/>
              </a:rPr>
              <a:t>. If the two different processes are executing </a:t>
            </a:r>
            <a:r>
              <a:rPr lang="en-US" sz="2000" dirty="0" err="1">
                <a:latin typeface="Times New Roman" panose="02020603050405020304" pitchFamily="18" charset="0"/>
                <a:cs typeface="Times New Roman" panose="02020603050405020304" pitchFamily="18" charset="0"/>
              </a:rPr>
              <a:t>TestAndSet</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simultaneously each </a:t>
            </a:r>
            <a:r>
              <a:rPr lang="en-US" sz="2000" dirty="0">
                <a:latin typeface="Times New Roman" panose="02020603050405020304" pitchFamily="18" charset="0"/>
                <a:cs typeface="Times New Roman" panose="02020603050405020304" pitchFamily="18" charset="0"/>
              </a:rPr>
              <a:t>on different CPU. Still, they will be executed sequentially in some </a:t>
            </a:r>
            <a:r>
              <a:rPr lang="en-US" sz="2000" dirty="0" smtClean="0">
                <a:latin typeface="Times New Roman" panose="02020603050405020304" pitchFamily="18" charset="0"/>
                <a:cs typeface="Times New Roman" panose="02020603050405020304" pitchFamily="18" charset="0"/>
              </a:rPr>
              <a:t>random order.</a:t>
            </a:r>
          </a:p>
          <a:p>
            <a:pPr algn="l"/>
            <a:r>
              <a:rPr lang="en-US" sz="2000" dirty="0" smtClean="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TestAndSet</a:t>
            </a:r>
            <a:r>
              <a:rPr lang="en-US" sz="2000" dirty="0">
                <a:latin typeface="Times New Roman" panose="02020603050405020304" pitchFamily="18" charset="0"/>
                <a:cs typeface="Times New Roman" panose="02020603050405020304" pitchFamily="18" charset="0"/>
              </a:rPr>
              <a:t>() instruction can be defined as in the code </a:t>
            </a:r>
            <a:r>
              <a:rPr lang="en-US" sz="2000" dirty="0" smtClean="0">
                <a:latin typeface="Times New Roman" panose="02020603050405020304" pitchFamily="18" charset="0"/>
                <a:cs typeface="Times New Roman" panose="02020603050405020304" pitchFamily="18" charset="0"/>
              </a:rPr>
              <a:t>below:</a:t>
            </a:r>
          </a:p>
          <a:p>
            <a:pPr algn="l"/>
            <a:r>
              <a:rPr lang="en-US" sz="2000" dirty="0" smtClean="0">
                <a:latin typeface="Times New Roman" panose="02020603050405020304" pitchFamily="18" charset="0"/>
                <a:cs typeface="Times New Roman" panose="02020603050405020304" pitchFamily="18" charset="0"/>
              </a:rPr>
              <a:t>do {</a:t>
            </a:r>
          </a:p>
          <a:p>
            <a:pPr algn="l"/>
            <a:r>
              <a:rPr lang="en-US" sz="2000" dirty="0" smtClean="0">
                <a:latin typeface="Times New Roman" panose="02020603050405020304" pitchFamily="18" charset="0"/>
                <a:cs typeface="Times New Roman" panose="02020603050405020304" pitchFamily="18" charset="0"/>
              </a:rPr>
              <a:t>while </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TestAndSet</a:t>
            </a:r>
            <a:r>
              <a:rPr lang="en-US" sz="2000" dirty="0">
                <a:latin typeface="Times New Roman" panose="02020603050405020304" pitchFamily="18" charset="0"/>
                <a:cs typeface="Times New Roman" panose="02020603050405020304" pitchFamily="18" charset="0"/>
              </a:rPr>
              <a:t>(&amp;lock</a:t>
            </a:r>
            <a:r>
              <a:rPr lang="en-US" sz="2000" dirty="0" smtClean="0">
                <a:latin typeface="Times New Roman" panose="02020603050405020304" pitchFamily="18" charset="0"/>
                <a:cs typeface="Times New Roman" panose="02020603050405020304" pitchFamily="18" charset="0"/>
              </a:rPr>
              <a:t>));</a:t>
            </a:r>
          </a:p>
          <a:p>
            <a:pPr algn="l"/>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critical </a:t>
            </a:r>
            <a:r>
              <a:rPr lang="en-US" sz="2000" dirty="0" smtClean="0">
                <a:latin typeface="Times New Roman" panose="02020603050405020304" pitchFamily="18" charset="0"/>
                <a:cs typeface="Times New Roman" panose="02020603050405020304" pitchFamily="18" charset="0"/>
              </a:rPr>
              <a:t>section</a:t>
            </a:r>
          </a:p>
          <a:p>
            <a:pPr algn="l"/>
            <a:r>
              <a:rPr lang="en-US" sz="2000" dirty="0" smtClean="0">
                <a:latin typeface="Times New Roman" panose="02020603050405020304" pitchFamily="18" charset="0"/>
                <a:cs typeface="Times New Roman" panose="02020603050405020304" pitchFamily="18" charset="0"/>
              </a:rPr>
              <a:t>lock </a:t>
            </a:r>
            <a:r>
              <a:rPr lang="en-US" sz="2000" dirty="0">
                <a:latin typeface="Times New Roman" panose="02020603050405020304" pitchFamily="18" charset="0"/>
                <a:cs typeface="Times New Roman" panose="02020603050405020304" pitchFamily="18" charset="0"/>
              </a:rPr>
              <a:t>= FALSE</a:t>
            </a:r>
            <a:r>
              <a:rPr lang="en-US" sz="2000" dirty="0" smtClean="0">
                <a:latin typeface="Times New Roman" panose="02020603050405020304" pitchFamily="18" charset="0"/>
                <a:cs typeface="Times New Roman" panose="02020603050405020304" pitchFamily="18" charset="0"/>
              </a:rPr>
              <a:t>;</a:t>
            </a:r>
          </a:p>
          <a:p>
            <a:pPr algn="l"/>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remainder </a:t>
            </a:r>
            <a:r>
              <a:rPr lang="en-US" sz="2000" dirty="0" smtClean="0">
                <a:latin typeface="Times New Roman" panose="02020603050405020304" pitchFamily="18" charset="0"/>
                <a:cs typeface="Times New Roman" panose="02020603050405020304" pitchFamily="18" charset="0"/>
              </a:rPr>
              <a:t>section</a:t>
            </a:r>
          </a:p>
          <a:p>
            <a:pPr algn="l"/>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while (TRUE</a:t>
            </a:r>
            <a:r>
              <a:rPr lang="en-US" sz="2000" dirty="0" smtClean="0">
                <a:latin typeface="Times New Roman" panose="02020603050405020304" pitchFamily="18" charset="0"/>
                <a:cs typeface="Times New Roman" panose="02020603050405020304" pitchFamily="18" charset="0"/>
              </a:rPr>
              <a:t>);</a:t>
            </a:r>
          </a:p>
          <a:p>
            <a:pPr algn="l"/>
            <a:r>
              <a:rPr lang="en-US" sz="2000" dirty="0" smtClean="0">
                <a:latin typeface="Times New Roman" panose="02020603050405020304" pitchFamily="18" charset="0"/>
                <a:cs typeface="Times New Roman" panose="02020603050405020304" pitchFamily="18" charset="0"/>
              </a:rPr>
              <a:t>Now</a:t>
            </a:r>
            <a:r>
              <a:rPr lang="en-US" sz="2000" dirty="0">
                <a:latin typeface="Times New Roman" panose="02020603050405020304" pitchFamily="18" charset="0"/>
                <a:cs typeface="Times New Roman" panose="02020603050405020304" pitchFamily="18" charset="0"/>
              </a:rPr>
              <a:t>, as a solution to the critical section, how this </a:t>
            </a:r>
            <a:r>
              <a:rPr lang="en-US" sz="2000" dirty="0" err="1">
                <a:latin typeface="Times New Roman" panose="02020603050405020304" pitchFamily="18" charset="0"/>
                <a:cs typeface="Times New Roman" panose="02020603050405020304" pitchFamily="18" charset="0"/>
              </a:rPr>
              <a:t>TestAndSet</a:t>
            </a:r>
            <a:r>
              <a:rPr lang="en-US" sz="2000" dirty="0">
                <a:latin typeface="Times New Roman" panose="02020603050405020304" pitchFamily="18" charset="0"/>
                <a:cs typeface="Times New Roman" panose="02020603050405020304" pitchFamily="18" charset="0"/>
              </a:rPr>
              <a:t>() instruction </a:t>
            </a:r>
            <a:r>
              <a:rPr lang="en-US" sz="2000" dirty="0" smtClean="0">
                <a:latin typeface="Times New Roman" panose="02020603050405020304" pitchFamily="18" charset="0"/>
                <a:cs typeface="Times New Roman" panose="02020603050405020304" pitchFamily="18" charset="0"/>
              </a:rPr>
              <a:t>be implemented </a:t>
            </a:r>
            <a:r>
              <a:rPr lang="en-US" sz="2000" dirty="0">
                <a:latin typeface="Times New Roman" panose="02020603050405020304" pitchFamily="18" charset="0"/>
                <a:cs typeface="Times New Roman" panose="02020603050405020304" pitchFamily="18" charset="0"/>
              </a:rPr>
              <a:t>to achieve mutual exclusion, bounded wait and progress. Let </a:t>
            </a:r>
            <a:r>
              <a:rPr lang="en-US" sz="2000" dirty="0" smtClean="0">
                <a:latin typeface="Times New Roman" panose="02020603050405020304" pitchFamily="18" charset="0"/>
                <a:cs typeface="Times New Roman" panose="02020603050405020304" pitchFamily="18" charset="0"/>
              </a:rPr>
              <a:t>us do </a:t>
            </a:r>
            <a:r>
              <a:rPr lang="en-US" sz="2000" dirty="0">
                <a:latin typeface="Times New Roman" panose="02020603050405020304" pitchFamily="18" charset="0"/>
                <a:cs typeface="Times New Roman" panose="02020603050405020304" pitchFamily="18" charset="0"/>
              </a:rPr>
              <a:t>it one by one</a:t>
            </a:r>
            <a:r>
              <a:rPr lang="en-US" sz="2000" dirty="0" smtClean="0">
                <a:latin typeface="Times New Roman" panose="02020603050405020304" pitchFamily="18" charset="0"/>
                <a:cs typeface="Times New Roman" panose="02020603050405020304" pitchFamily="18" charset="0"/>
              </a:rPr>
              <a:t>,</a:t>
            </a:r>
          </a:p>
          <a:p>
            <a:pPr algn="l"/>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first, we will try to achieve mutual exclusion </a:t>
            </a:r>
            <a:r>
              <a:rPr lang="en-US" sz="2000" dirty="0" smtClean="0">
                <a:latin typeface="Times New Roman" panose="02020603050405020304" pitchFamily="18" charset="0"/>
                <a:cs typeface="Times New Roman" panose="02020603050405020304" pitchFamily="18" charset="0"/>
              </a:rPr>
              <a:t>using </a:t>
            </a:r>
            <a:r>
              <a:rPr lang="en-US" sz="2000" dirty="0" err="1" smtClean="0">
                <a:latin typeface="Times New Roman" panose="02020603050405020304" pitchFamily="18" charset="0"/>
                <a:cs typeface="Times New Roman" panose="02020603050405020304" pitchFamily="18" charset="0"/>
              </a:rPr>
              <a:t>TestAndSet</a:t>
            </a:r>
            <a:r>
              <a:rPr lang="en-US" sz="2000" dirty="0">
                <a:latin typeface="Times New Roman" panose="02020603050405020304" pitchFamily="18" charset="0"/>
                <a:cs typeface="Times New Roman" panose="02020603050405020304" pitchFamily="18" charset="0"/>
              </a:rPr>
              <a:t>() instruction and for that, you have to globally declare a </a:t>
            </a:r>
            <a:r>
              <a:rPr lang="en-US" sz="2000" dirty="0" smtClean="0">
                <a:latin typeface="Times New Roman" panose="02020603050405020304" pitchFamily="18" charset="0"/>
                <a:cs typeface="Times New Roman" panose="02020603050405020304" pitchFamily="18" charset="0"/>
              </a:rPr>
              <a:t>Boolean variable </a:t>
            </a:r>
            <a:r>
              <a:rPr lang="en-US" sz="2000" dirty="0">
                <a:latin typeface="Times New Roman" panose="02020603050405020304" pitchFamily="18" charset="0"/>
                <a:cs typeface="Times New Roman" panose="02020603050405020304" pitchFamily="18" charset="0"/>
              </a:rPr>
              <a:t>lock and initialize it to </a:t>
            </a:r>
            <a:r>
              <a:rPr lang="en-US" sz="2000" dirty="0" smtClean="0">
                <a:latin typeface="Times New Roman" panose="02020603050405020304" pitchFamily="18" charset="0"/>
                <a:cs typeface="Times New Roman" panose="02020603050405020304" pitchFamily="18" charset="0"/>
              </a:rPr>
              <a:t>false.</a:t>
            </a:r>
          </a:p>
          <a:p>
            <a:pPr algn="l"/>
            <a:r>
              <a:rPr lang="en-US" sz="2000" dirty="0" smtClean="0">
                <a:latin typeface="Times New Roman" panose="02020603050405020304" pitchFamily="18" charset="0"/>
                <a:cs typeface="Times New Roman" panose="02020603050405020304" pitchFamily="18" charset="0"/>
              </a:rPr>
              <a:t>Consider </a:t>
            </a:r>
            <a:r>
              <a:rPr lang="en-US" sz="2000" dirty="0">
                <a:latin typeface="Times New Roman" panose="02020603050405020304" pitchFamily="18" charset="0"/>
                <a:cs typeface="Times New Roman" panose="02020603050405020304" pitchFamily="18" charset="0"/>
              </a:rPr>
              <a:t>we have three processes P0, and P1 are interested to enter </a:t>
            </a:r>
            <a:r>
              <a:rPr lang="en-US" sz="2000" dirty="0" smtClean="0">
                <a:latin typeface="Times New Roman" panose="02020603050405020304" pitchFamily="18" charset="0"/>
                <a:cs typeface="Times New Roman" panose="02020603050405020304" pitchFamily="18" charset="0"/>
              </a:rPr>
              <a:t>their critical </a:t>
            </a:r>
            <a:r>
              <a:rPr lang="en-US" sz="2000" dirty="0">
                <a:latin typeface="Times New Roman" panose="02020603050405020304" pitchFamily="18" charset="0"/>
                <a:cs typeface="Times New Roman" panose="02020603050405020304" pitchFamily="18" charset="0"/>
              </a:rPr>
              <a:t>section. So the structure for achieving mutual exclusion is as </a:t>
            </a:r>
            <a:r>
              <a:rPr lang="en-US" sz="2000" dirty="0" smtClean="0">
                <a:latin typeface="Times New Roman" panose="02020603050405020304" pitchFamily="18" charset="0"/>
                <a:cs typeface="Times New Roman" panose="02020603050405020304" pitchFamily="18" charset="0"/>
              </a:rPr>
              <a:t>follow.</a:t>
            </a:r>
          </a:p>
        </p:txBody>
      </p:sp>
    </p:spTree>
    <p:extLst>
      <p:ext uri="{BB962C8B-B14F-4D97-AF65-F5344CB8AC3E}">
        <p14:creationId xmlns:p14="http://schemas.microsoft.com/office/powerpoint/2010/main" val="2813940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0" y="1443841"/>
            <a:ext cx="8128000" cy="5170646"/>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do {</a:t>
            </a:r>
          </a:p>
          <a:p>
            <a:r>
              <a:rPr lang="en-US" sz="2400" dirty="0">
                <a:latin typeface="Times New Roman" panose="02020603050405020304" pitchFamily="18" charset="0"/>
                <a:cs typeface="Times New Roman" panose="02020603050405020304" pitchFamily="18" charset="0"/>
              </a:rPr>
              <a:t>while (</a:t>
            </a:r>
            <a:r>
              <a:rPr lang="en-US" sz="2400" dirty="0" err="1">
                <a:latin typeface="Times New Roman" panose="02020603050405020304" pitchFamily="18" charset="0"/>
                <a:cs typeface="Times New Roman" panose="02020603050405020304" pitchFamily="18" charset="0"/>
              </a:rPr>
              <a:t>TestAndSet</a:t>
            </a:r>
            <a:r>
              <a:rPr lang="en-US" sz="2400" dirty="0">
                <a:latin typeface="Times New Roman" panose="02020603050405020304" pitchFamily="18" charset="0"/>
                <a:cs typeface="Times New Roman" panose="02020603050405020304" pitchFamily="18" charset="0"/>
              </a:rPr>
              <a:t>(&amp;lock));</a:t>
            </a:r>
          </a:p>
          <a:p>
            <a:r>
              <a:rPr lang="en-US" sz="2400" dirty="0">
                <a:latin typeface="Times New Roman" panose="02020603050405020304" pitchFamily="18" charset="0"/>
                <a:cs typeface="Times New Roman" panose="02020603050405020304" pitchFamily="18" charset="0"/>
              </a:rPr>
              <a:t>// critical section</a:t>
            </a:r>
          </a:p>
          <a:p>
            <a:r>
              <a:rPr lang="en-US" sz="2400" dirty="0">
                <a:latin typeface="Times New Roman" panose="02020603050405020304" pitchFamily="18" charset="0"/>
                <a:cs typeface="Times New Roman" panose="02020603050405020304" pitchFamily="18" charset="0"/>
              </a:rPr>
              <a:t>lock = FALSE;</a:t>
            </a:r>
          </a:p>
          <a:p>
            <a:r>
              <a:rPr lang="en-US" sz="2400" dirty="0">
                <a:latin typeface="Times New Roman" panose="02020603050405020304" pitchFamily="18" charset="0"/>
                <a:cs typeface="Times New Roman" panose="02020603050405020304" pitchFamily="18" charset="0"/>
              </a:rPr>
              <a:t>// remainder section</a:t>
            </a:r>
          </a:p>
          <a:p>
            <a:r>
              <a:rPr lang="en-US" sz="2400" dirty="0">
                <a:latin typeface="Times New Roman" panose="02020603050405020304" pitchFamily="18" charset="0"/>
                <a:cs typeface="Times New Roman" panose="02020603050405020304" pitchFamily="18" charset="0"/>
              </a:rPr>
              <a:t>} while (TRUE);</a:t>
            </a:r>
          </a:p>
          <a:p>
            <a:r>
              <a:rPr lang="en-US" sz="2400" dirty="0">
                <a:latin typeface="Times New Roman" panose="02020603050405020304" pitchFamily="18" charset="0"/>
                <a:cs typeface="Times New Roman" panose="02020603050405020304" pitchFamily="18" charset="0"/>
              </a:rPr>
              <a:t>Let’s say process P0 wants to enter the critical section it executes the code</a:t>
            </a:r>
          </a:p>
          <a:p>
            <a:r>
              <a:rPr lang="en-US" sz="2400" dirty="0">
                <a:latin typeface="Times New Roman" panose="02020603050405020304" pitchFamily="18" charset="0"/>
                <a:cs typeface="Times New Roman" panose="02020603050405020304" pitchFamily="18" charset="0"/>
              </a:rPr>
              <a:t>above which let while loop invokes </a:t>
            </a:r>
            <a:r>
              <a:rPr lang="en-US" sz="2400" dirty="0" err="1">
                <a:latin typeface="Times New Roman" panose="02020603050405020304" pitchFamily="18" charset="0"/>
                <a:cs typeface="Times New Roman" panose="02020603050405020304" pitchFamily="18" charset="0"/>
              </a:rPr>
              <a:t>TestAndSet</a:t>
            </a:r>
            <a:r>
              <a:rPr lang="en-US" sz="2400" dirty="0">
                <a:latin typeface="Times New Roman" panose="02020603050405020304" pitchFamily="18" charset="0"/>
                <a:cs typeface="Times New Roman" panose="02020603050405020304" pitchFamily="18" charset="0"/>
              </a:rPr>
              <a:t>() instruction.</a:t>
            </a:r>
          </a:p>
          <a:p>
            <a:r>
              <a:rPr lang="en-US" sz="2400" dirty="0">
                <a:latin typeface="Times New Roman" panose="02020603050405020304" pitchFamily="18" charset="0"/>
                <a:cs typeface="Times New Roman" panose="02020603050405020304" pitchFamily="18" charset="0"/>
              </a:rPr>
              <a:t>Using the </a:t>
            </a:r>
            <a:r>
              <a:rPr lang="en-US" sz="2400" dirty="0" err="1">
                <a:latin typeface="Times New Roman" panose="02020603050405020304" pitchFamily="18" charset="0"/>
                <a:cs typeface="Times New Roman" panose="02020603050405020304" pitchFamily="18" charset="0"/>
              </a:rPr>
              <a:t>TestAndSet</a:t>
            </a:r>
            <a:r>
              <a:rPr lang="en-US" sz="2400" dirty="0">
                <a:latin typeface="Times New Roman" panose="02020603050405020304" pitchFamily="18" charset="0"/>
                <a:cs typeface="Times New Roman" panose="02020603050405020304" pitchFamily="18" charset="0"/>
              </a:rPr>
              <a:t>() instruction the P0 modifies the lock value to true to</a:t>
            </a:r>
          </a:p>
          <a:p>
            <a:r>
              <a:rPr lang="en-US" sz="2400" dirty="0">
                <a:latin typeface="Times New Roman" panose="02020603050405020304" pitchFamily="18" charset="0"/>
                <a:cs typeface="Times New Roman" panose="02020603050405020304" pitchFamily="18" charset="0"/>
              </a:rPr>
              <a:t>acquire the lock and enters the critical section</a:t>
            </a:r>
          </a:p>
          <a:p>
            <a:endParaRPr lang="en-US" sz="24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68403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580571" y="363915"/>
            <a:ext cx="11103428" cy="6494085"/>
          </a:xfrm>
          <a:prstGeom prst="rect">
            <a:avLst/>
          </a:prstGeom>
        </p:spPr>
        <p:txBody>
          <a:bodyPr wrap="square">
            <a:spAutoFit/>
          </a:bodyPr>
          <a:lstStyle/>
          <a:p>
            <a:r>
              <a:rPr lang="en-US" sz="2000" b="0" i="0" dirty="0" smtClean="0">
                <a:solidFill>
                  <a:srgbClr val="222222"/>
                </a:solidFill>
                <a:effectLst/>
                <a:latin typeface="Times New Roman" panose="02020603050405020304" pitchFamily="18" charset="0"/>
                <a:cs typeface="Times New Roman" panose="02020603050405020304" pitchFamily="18" charset="0"/>
              </a:rPr>
              <a:t>Now, when P0 is already in its critical section process P1 also wants to enter in its critical section. So it will execute the do-while loop and invoke </a:t>
            </a:r>
            <a:r>
              <a:rPr lang="en-US" sz="2000" b="0" i="0" dirty="0" err="1" smtClean="0">
                <a:solidFill>
                  <a:srgbClr val="222222"/>
                </a:solidFill>
                <a:effectLst/>
                <a:latin typeface="Times New Roman" panose="02020603050405020304" pitchFamily="18" charset="0"/>
                <a:cs typeface="Times New Roman" panose="02020603050405020304" pitchFamily="18" charset="0"/>
              </a:rPr>
              <a:t>TestAndSet</a:t>
            </a:r>
            <a:r>
              <a:rPr lang="en-US" sz="2000" b="0" i="0" dirty="0" smtClean="0">
                <a:solidFill>
                  <a:srgbClr val="222222"/>
                </a:solidFill>
                <a:effectLst/>
                <a:latin typeface="Times New Roman" panose="02020603050405020304" pitchFamily="18" charset="0"/>
                <a:cs typeface="Times New Roman" panose="02020603050405020304" pitchFamily="18" charset="0"/>
              </a:rPr>
              <a:t>() instruction only to see that the lock is already set to true which means some process is in the critical section which will make P1 repeat while loop unless P0 turns the lock to false.</a:t>
            </a:r>
          </a:p>
          <a:p>
            <a:r>
              <a:rPr lang="en-US" sz="2000" b="0" i="0" dirty="0" smtClean="0">
                <a:solidFill>
                  <a:srgbClr val="222222"/>
                </a:solidFill>
                <a:effectLst/>
                <a:latin typeface="Times New Roman" panose="02020603050405020304" pitchFamily="18" charset="0"/>
                <a:cs typeface="Times New Roman" panose="02020603050405020304" pitchFamily="18" charset="0"/>
              </a:rPr>
              <a:t>Once the process P0 complete executing its critical section its will turn the lock variable to false. Then P1 can modify the lock variable to true using </a:t>
            </a:r>
            <a:r>
              <a:rPr lang="en-US" sz="2000" b="0" i="0" dirty="0" err="1" smtClean="0">
                <a:solidFill>
                  <a:srgbClr val="222222"/>
                </a:solidFill>
                <a:effectLst/>
                <a:latin typeface="Times New Roman" panose="02020603050405020304" pitchFamily="18" charset="0"/>
                <a:cs typeface="Times New Roman" panose="02020603050405020304" pitchFamily="18" charset="0"/>
              </a:rPr>
              <a:t>TestAndSet</a:t>
            </a:r>
            <a:r>
              <a:rPr lang="en-US" sz="2000" b="0" i="0" dirty="0" smtClean="0">
                <a:solidFill>
                  <a:srgbClr val="222222"/>
                </a:solidFill>
                <a:effectLst/>
                <a:latin typeface="Times New Roman" panose="02020603050405020304" pitchFamily="18" charset="0"/>
                <a:cs typeface="Times New Roman" panose="02020603050405020304" pitchFamily="18" charset="0"/>
              </a:rPr>
              <a:t>() instruction and enter its critical section.</a:t>
            </a:r>
          </a:p>
          <a:p>
            <a:r>
              <a:rPr lang="en-US" sz="2000" b="0" i="0" dirty="0" smtClean="0">
                <a:solidFill>
                  <a:srgbClr val="222222"/>
                </a:solidFill>
                <a:effectLst/>
                <a:latin typeface="Times New Roman" panose="02020603050405020304" pitchFamily="18" charset="0"/>
                <a:cs typeface="Times New Roman" panose="02020603050405020304" pitchFamily="18" charset="0"/>
              </a:rPr>
              <a:t>This is how you can achieve mutual exclusion with the do-while structure above i.e. it let only one process to execute its critical section at a time. But this structure does not assure bounded wait as it may happen that process P0 may keep on executing its critical section again and again and P1 has to keep on waiting.</a:t>
            </a:r>
          </a:p>
          <a:p>
            <a:r>
              <a:rPr lang="en-US" sz="2000" b="0" i="0" dirty="0" smtClean="0">
                <a:solidFill>
                  <a:srgbClr val="222222"/>
                </a:solidFill>
                <a:effectLst/>
                <a:latin typeface="Times New Roman" panose="02020603050405020304" pitchFamily="18" charset="0"/>
                <a:cs typeface="Times New Roman" panose="02020603050405020304" pitchFamily="18" charset="0"/>
              </a:rPr>
              <a:t>So we have another structure that will ensure the bounded wait condition. The structure below has a global Boolean array waiting[</a:t>
            </a:r>
            <a:r>
              <a:rPr lang="en-US" sz="2000" b="0" i="0" dirty="0" err="1" smtClean="0">
                <a:solidFill>
                  <a:srgbClr val="222222"/>
                </a:solidFill>
                <a:effectLst/>
                <a:latin typeface="Times New Roman" panose="02020603050405020304" pitchFamily="18" charset="0"/>
                <a:cs typeface="Times New Roman" panose="02020603050405020304" pitchFamily="18" charset="0"/>
              </a:rPr>
              <a:t>i</a:t>
            </a:r>
            <a:r>
              <a:rPr lang="en-US" sz="2000" b="0" i="0" dirty="0" smtClean="0">
                <a:solidFill>
                  <a:srgbClr val="222222"/>
                </a:solidFill>
                <a:effectLst/>
                <a:latin typeface="Times New Roman" panose="02020603050405020304" pitchFamily="18" charset="0"/>
                <a:cs typeface="Times New Roman" panose="02020603050405020304" pitchFamily="18" charset="0"/>
              </a:rPr>
              <a:t>] and a global Boolean variable lock where both are initialized to false. Also, a local variable key associated with each process that is interested to execute their critical section.</a:t>
            </a:r>
          </a:p>
          <a:p>
            <a:r>
              <a:rPr lang="en-US" sz="2000" b="0" i="0" dirty="0" smtClean="0">
                <a:solidFill>
                  <a:srgbClr val="777777"/>
                </a:solidFill>
                <a:effectLst/>
                <a:latin typeface="Times New Roman" panose="02020603050405020304" pitchFamily="18" charset="0"/>
                <a:cs typeface="Times New Roman" panose="02020603050405020304" pitchFamily="18" charset="0"/>
              </a:rPr>
              <a:t>{</a:t>
            </a:r>
          </a:p>
          <a:p>
            <a:r>
              <a:rPr lang="en-US" sz="2000" b="0" i="0" dirty="0" smtClean="0">
                <a:solidFill>
                  <a:srgbClr val="286491"/>
                </a:solidFill>
                <a:effectLst/>
                <a:latin typeface="Times New Roman" panose="02020603050405020304" pitchFamily="18" charset="0"/>
                <a:cs typeface="Times New Roman" panose="02020603050405020304" pitchFamily="18" charset="0"/>
              </a:rPr>
              <a:t>do</a:t>
            </a:r>
          </a:p>
          <a:p>
            <a:r>
              <a:rPr lang="en-US" sz="2000" b="0" i="0" dirty="0" smtClean="0">
                <a:solidFill>
                  <a:srgbClr val="000000"/>
                </a:solidFill>
                <a:effectLst/>
                <a:latin typeface="Times New Roman" panose="02020603050405020304" pitchFamily="18" charset="0"/>
                <a:cs typeface="Times New Roman" panose="02020603050405020304" pitchFamily="18" charset="0"/>
              </a:rPr>
              <a:t>waiting</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err="1" smtClean="0">
                <a:solidFill>
                  <a:srgbClr val="000000"/>
                </a:solidFill>
                <a:effectLst/>
                <a:latin typeface="Times New Roman" panose="02020603050405020304" pitchFamily="18" charset="0"/>
                <a:cs typeface="Times New Roman" panose="02020603050405020304" pitchFamily="18" charset="0"/>
              </a:rPr>
              <a:t>i</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 </a:t>
            </a:r>
            <a:r>
              <a:rPr lang="en-US" sz="2000" b="0" i="0" dirty="0" smtClean="0">
                <a:solidFill>
                  <a:srgbClr val="286491"/>
                </a:solidFill>
                <a:effectLst/>
                <a:latin typeface="Times New Roman" panose="02020603050405020304" pitchFamily="18" charset="0"/>
                <a:cs typeface="Times New Roman" panose="02020603050405020304" pitchFamily="18" charset="0"/>
              </a:rPr>
              <a:t>TRUE</a:t>
            </a:r>
            <a:r>
              <a:rPr lang="en-US" sz="2000" b="0" i="0" dirty="0" smtClean="0">
                <a:solidFill>
                  <a:srgbClr val="000000"/>
                </a:solidFill>
                <a:effectLst/>
                <a:latin typeface="Times New Roman" panose="02020603050405020304" pitchFamily="18" charset="0"/>
                <a:cs typeface="Times New Roman" panose="02020603050405020304" pitchFamily="18" charset="0"/>
              </a:rPr>
              <a:t>;</a:t>
            </a:r>
          </a:p>
          <a:p>
            <a:r>
              <a:rPr lang="en-US" sz="2000" b="0" i="0" dirty="0" smtClean="0">
                <a:solidFill>
                  <a:srgbClr val="000000"/>
                </a:solidFill>
                <a:effectLst/>
                <a:latin typeface="Times New Roman" panose="02020603050405020304" pitchFamily="18" charset="0"/>
                <a:cs typeface="Times New Roman" panose="02020603050405020304" pitchFamily="18" charset="0"/>
              </a:rPr>
              <a:t>key = </a:t>
            </a:r>
            <a:r>
              <a:rPr lang="en-US" sz="2000" b="0" i="0" dirty="0" smtClean="0">
                <a:solidFill>
                  <a:srgbClr val="286491"/>
                </a:solidFill>
                <a:effectLst/>
                <a:latin typeface="Times New Roman" panose="02020603050405020304" pitchFamily="18" charset="0"/>
                <a:cs typeface="Times New Roman" panose="02020603050405020304" pitchFamily="18" charset="0"/>
              </a:rPr>
              <a:t>TRUE</a:t>
            </a:r>
            <a:r>
              <a:rPr lang="en-US" sz="2000" b="0" i="0" dirty="0" smtClean="0">
                <a:solidFill>
                  <a:srgbClr val="000000"/>
                </a:solidFill>
                <a:effectLst/>
                <a:latin typeface="Times New Roman" panose="02020603050405020304" pitchFamily="18" charset="0"/>
                <a:cs typeface="Times New Roman" panose="02020603050405020304" pitchFamily="18" charset="0"/>
              </a:rPr>
              <a:t>;</a:t>
            </a:r>
          </a:p>
          <a:p>
            <a:r>
              <a:rPr lang="en-US" sz="2000" b="0" i="0" dirty="0" smtClean="0">
                <a:solidFill>
                  <a:srgbClr val="286491"/>
                </a:solidFill>
                <a:effectLst/>
                <a:latin typeface="Times New Roman" panose="02020603050405020304" pitchFamily="18" charset="0"/>
                <a:cs typeface="Times New Roman" panose="02020603050405020304" pitchFamily="18" charset="0"/>
              </a:rPr>
              <a:t>while</a:t>
            </a:r>
            <a:r>
              <a:rPr lang="en-US" sz="2000" b="0" i="0" dirty="0" smtClean="0">
                <a:solidFill>
                  <a:srgbClr val="000000"/>
                </a:solidFill>
                <a:effectLst/>
                <a:latin typeface="Times New Roman" panose="02020603050405020304" pitchFamily="18" charset="0"/>
                <a:cs typeface="Times New Roman" panose="02020603050405020304" pitchFamily="18" charset="0"/>
              </a:rPr>
              <a:t> </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waiting</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err="1" smtClean="0">
                <a:solidFill>
                  <a:srgbClr val="000000"/>
                </a:solidFill>
                <a:effectLst/>
                <a:latin typeface="Times New Roman" panose="02020603050405020304" pitchFamily="18" charset="0"/>
                <a:cs typeface="Times New Roman" panose="02020603050405020304" pitchFamily="18" charset="0"/>
              </a:rPr>
              <a:t>i</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a:t>
            </a:r>
            <a:r>
              <a:rPr lang="en-US" sz="2000" b="0" i="0" dirty="0" smtClean="0">
                <a:solidFill>
                  <a:srgbClr val="777777"/>
                </a:solidFill>
                <a:effectLst/>
                <a:latin typeface="Times New Roman" panose="02020603050405020304" pitchFamily="18" charset="0"/>
                <a:cs typeface="Times New Roman" panose="02020603050405020304" pitchFamily="18" charset="0"/>
              </a:rPr>
              <a:t>&amp;&amp;</a:t>
            </a:r>
            <a:r>
              <a:rPr lang="en-US" sz="2000" b="0" i="0" dirty="0" smtClean="0">
                <a:solidFill>
                  <a:srgbClr val="000000"/>
                </a:solidFill>
                <a:effectLst/>
                <a:latin typeface="Times New Roman" panose="02020603050405020304" pitchFamily="18" charset="0"/>
                <a:cs typeface="Times New Roman" panose="02020603050405020304" pitchFamily="18" charset="0"/>
              </a:rPr>
              <a:t> key</a:t>
            </a:r>
            <a:r>
              <a:rPr lang="en-US" sz="2000" b="0" i="0" dirty="0" smtClean="0">
                <a:solidFill>
                  <a:srgbClr val="777777"/>
                </a:solidFill>
                <a:effectLst/>
                <a:latin typeface="Times New Roman" panose="02020603050405020304" pitchFamily="18" charset="0"/>
                <a:cs typeface="Times New Roman" panose="02020603050405020304" pitchFamily="18" charset="0"/>
              </a:rPr>
              <a:t>)</a:t>
            </a:r>
            <a:endParaRPr lang="en-US" sz="2000" b="0" i="0" dirty="0" smtClean="0">
              <a:solidFill>
                <a:srgbClr val="286491"/>
              </a:solidFill>
              <a:effectLst/>
              <a:latin typeface="Times New Roman" panose="02020603050405020304" pitchFamily="18" charset="0"/>
              <a:cs typeface="Times New Roman" panose="02020603050405020304" pitchFamily="18" charset="0"/>
            </a:endParaRPr>
          </a:p>
          <a:p>
            <a:r>
              <a:rPr lang="en-US" sz="2000" b="0" i="0" dirty="0" smtClean="0">
                <a:solidFill>
                  <a:srgbClr val="000000"/>
                </a:solidFill>
                <a:effectLst/>
                <a:latin typeface="Times New Roman" panose="02020603050405020304" pitchFamily="18" charset="0"/>
                <a:cs typeface="Times New Roman" panose="02020603050405020304" pitchFamily="18" charset="0"/>
              </a:rPr>
              <a:t>key = </a:t>
            </a:r>
            <a:r>
              <a:rPr lang="en-US" sz="2000" b="0" i="0" dirty="0" err="1" smtClean="0">
                <a:solidFill>
                  <a:srgbClr val="0086B3"/>
                </a:solidFill>
                <a:effectLst/>
                <a:latin typeface="Times New Roman" panose="02020603050405020304" pitchFamily="18" charset="0"/>
                <a:cs typeface="Times New Roman" panose="02020603050405020304" pitchFamily="18" charset="0"/>
              </a:rPr>
              <a:t>TestAndSet</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&amp;lock</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a:t>
            </a:r>
          </a:p>
          <a:p>
            <a:r>
              <a:rPr lang="en-US" sz="2000" b="0" i="0" dirty="0" smtClean="0">
                <a:solidFill>
                  <a:srgbClr val="000000"/>
                </a:solidFill>
                <a:effectLst/>
                <a:latin typeface="Times New Roman" panose="02020603050405020304" pitchFamily="18" charset="0"/>
                <a:cs typeface="Times New Roman" panose="02020603050405020304" pitchFamily="18" charset="0"/>
              </a:rPr>
              <a:t>waiting</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err="1" smtClean="0">
                <a:solidFill>
                  <a:srgbClr val="000000"/>
                </a:solidFill>
                <a:effectLst/>
                <a:latin typeface="Times New Roman" panose="02020603050405020304" pitchFamily="18" charset="0"/>
                <a:cs typeface="Times New Roman" panose="02020603050405020304" pitchFamily="18" charset="0"/>
              </a:rPr>
              <a:t>i</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 </a:t>
            </a:r>
            <a:r>
              <a:rPr lang="en-US" sz="2000" b="0" i="0" dirty="0" smtClean="0">
                <a:solidFill>
                  <a:srgbClr val="286491"/>
                </a:solidFill>
                <a:effectLst/>
                <a:latin typeface="Times New Roman" panose="02020603050405020304" pitchFamily="18" charset="0"/>
                <a:cs typeface="Times New Roman" panose="02020603050405020304" pitchFamily="18" charset="0"/>
              </a:rPr>
              <a:t>FALSE</a:t>
            </a:r>
            <a:r>
              <a:rPr lang="en-US" sz="2000" b="0" i="0" dirty="0" smtClean="0">
                <a:solidFill>
                  <a:srgbClr val="000000"/>
                </a:solidFill>
                <a:effectLst/>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8554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9" name="Rectangle 8248"/>
          <p:cNvSpPr/>
          <p:nvPr/>
        </p:nvSpPr>
        <p:spPr>
          <a:xfrm>
            <a:off x="667658" y="43537"/>
            <a:ext cx="11146971" cy="6247864"/>
          </a:xfrm>
          <a:prstGeom prst="rect">
            <a:avLst/>
          </a:prstGeom>
        </p:spPr>
        <p:txBody>
          <a:bodyPr wrap="square">
            <a:spAutoFit/>
          </a:bodyPr>
          <a:lstStyle/>
          <a:p>
            <a:r>
              <a:rPr lang="en-US" sz="2000" b="0" i="0" dirty="0" smtClean="0">
                <a:solidFill>
                  <a:srgbClr val="9999AA"/>
                </a:solidFill>
                <a:effectLst/>
                <a:latin typeface="Times New Roman" panose="02020603050405020304" pitchFamily="18" charset="0"/>
                <a:cs typeface="Times New Roman" panose="02020603050405020304" pitchFamily="18" charset="0"/>
              </a:rPr>
              <a:t>// critical section</a:t>
            </a:r>
          </a:p>
          <a:p>
            <a:r>
              <a:rPr lang="en-US" sz="2000" b="0" i="0" dirty="0" smtClean="0">
                <a:solidFill>
                  <a:srgbClr val="000000"/>
                </a:solidFill>
                <a:effectLst/>
                <a:latin typeface="Times New Roman" panose="02020603050405020304" pitchFamily="18" charset="0"/>
                <a:cs typeface="Times New Roman" panose="02020603050405020304" pitchFamily="18" charset="0"/>
              </a:rPr>
              <a:t>j = </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err="1" smtClean="0">
                <a:solidFill>
                  <a:srgbClr val="000000"/>
                </a:solidFill>
                <a:effectLst/>
                <a:latin typeface="Times New Roman" panose="02020603050405020304" pitchFamily="18" charset="0"/>
                <a:cs typeface="Times New Roman" panose="02020603050405020304" pitchFamily="18" charset="0"/>
              </a:rPr>
              <a:t>i</a:t>
            </a:r>
            <a:r>
              <a:rPr lang="en-US" sz="2000" b="0" i="0" dirty="0" smtClean="0">
                <a:solidFill>
                  <a:srgbClr val="000000"/>
                </a:solidFill>
                <a:effectLst/>
                <a:latin typeface="Times New Roman" panose="02020603050405020304" pitchFamily="18" charset="0"/>
                <a:cs typeface="Times New Roman" panose="02020603050405020304" pitchFamily="18" charset="0"/>
              </a:rPr>
              <a:t> + </a:t>
            </a:r>
            <a:r>
              <a:rPr lang="en-US" sz="2000" b="0" i="0" dirty="0" smtClean="0">
                <a:solidFill>
                  <a:srgbClr val="009999"/>
                </a:solidFill>
                <a:effectLst/>
                <a:latin typeface="Times New Roman" panose="02020603050405020304" pitchFamily="18" charset="0"/>
                <a:cs typeface="Times New Roman" panose="02020603050405020304" pitchFamily="18" charset="0"/>
              </a:rPr>
              <a:t>1</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 n;</a:t>
            </a:r>
          </a:p>
          <a:p>
            <a:r>
              <a:rPr lang="en-US" sz="2000" b="0" i="0" dirty="0" smtClean="0">
                <a:solidFill>
                  <a:srgbClr val="286491"/>
                </a:solidFill>
                <a:effectLst/>
                <a:latin typeface="Times New Roman" panose="02020603050405020304" pitchFamily="18" charset="0"/>
                <a:cs typeface="Times New Roman" panose="02020603050405020304" pitchFamily="18" charset="0"/>
              </a:rPr>
              <a:t>while</a:t>
            </a:r>
            <a:r>
              <a:rPr lang="en-US" sz="2000" b="0" i="0" dirty="0" smtClean="0">
                <a:solidFill>
                  <a:srgbClr val="000000"/>
                </a:solidFill>
                <a:effectLst/>
                <a:latin typeface="Times New Roman" panose="02020603050405020304" pitchFamily="18" charset="0"/>
                <a:cs typeface="Times New Roman" panose="02020603050405020304" pitchFamily="18" charset="0"/>
              </a:rPr>
              <a:t> </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j != </a:t>
            </a:r>
            <a:r>
              <a:rPr lang="en-US" sz="2000" b="0" i="0" dirty="0" err="1" smtClean="0">
                <a:solidFill>
                  <a:srgbClr val="000000"/>
                </a:solidFill>
                <a:effectLst/>
                <a:latin typeface="Times New Roman" panose="02020603050405020304" pitchFamily="18" charset="0"/>
                <a:cs typeface="Times New Roman" panose="02020603050405020304" pitchFamily="18" charset="0"/>
              </a:rPr>
              <a:t>i</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a:t>
            </a:r>
            <a:r>
              <a:rPr lang="en-US" sz="2000" b="0" i="0" dirty="0" smtClean="0">
                <a:solidFill>
                  <a:srgbClr val="777777"/>
                </a:solidFill>
                <a:effectLst/>
                <a:latin typeface="Times New Roman" panose="02020603050405020304" pitchFamily="18" charset="0"/>
                <a:cs typeface="Times New Roman" panose="02020603050405020304" pitchFamily="18" charset="0"/>
              </a:rPr>
              <a:t>&amp;&amp;</a:t>
            </a:r>
            <a:r>
              <a:rPr lang="en-US" sz="2000" b="0" i="0" dirty="0" smtClean="0">
                <a:solidFill>
                  <a:srgbClr val="000000"/>
                </a:solidFill>
                <a:effectLst/>
                <a:latin typeface="Times New Roman" panose="02020603050405020304" pitchFamily="18" charset="0"/>
                <a:cs typeface="Times New Roman" panose="02020603050405020304" pitchFamily="18" charset="0"/>
              </a:rPr>
              <a:t> !waiting</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j</a:t>
            </a:r>
            <a:r>
              <a:rPr lang="en-US" sz="2000" b="0" i="0" dirty="0" smtClean="0">
                <a:solidFill>
                  <a:srgbClr val="777777"/>
                </a:solidFill>
                <a:effectLst/>
                <a:latin typeface="Times New Roman" panose="02020603050405020304" pitchFamily="18" charset="0"/>
                <a:cs typeface="Times New Roman" panose="02020603050405020304" pitchFamily="18" charset="0"/>
              </a:rPr>
              <a:t>])</a:t>
            </a:r>
            <a:endParaRPr lang="en-US" sz="2000" b="0" i="0" dirty="0" smtClean="0">
              <a:solidFill>
                <a:srgbClr val="286491"/>
              </a:solidFill>
              <a:effectLst/>
              <a:latin typeface="Times New Roman" panose="02020603050405020304" pitchFamily="18" charset="0"/>
              <a:cs typeface="Times New Roman" panose="02020603050405020304" pitchFamily="18" charset="0"/>
            </a:endParaRPr>
          </a:p>
          <a:p>
            <a:r>
              <a:rPr lang="en-US" sz="2000" b="0" i="0" dirty="0" smtClean="0">
                <a:solidFill>
                  <a:srgbClr val="000000"/>
                </a:solidFill>
                <a:effectLst/>
                <a:latin typeface="Times New Roman" panose="02020603050405020304" pitchFamily="18" charset="0"/>
                <a:cs typeface="Times New Roman" panose="02020603050405020304" pitchFamily="18" charset="0"/>
              </a:rPr>
              <a:t>j = </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j + </a:t>
            </a:r>
            <a:r>
              <a:rPr lang="en-US" sz="2000" b="0" i="0" dirty="0" smtClean="0">
                <a:solidFill>
                  <a:srgbClr val="009999"/>
                </a:solidFill>
                <a:effectLst/>
                <a:latin typeface="Times New Roman" panose="02020603050405020304" pitchFamily="18" charset="0"/>
                <a:cs typeface="Times New Roman" panose="02020603050405020304" pitchFamily="18" charset="0"/>
              </a:rPr>
              <a:t>1</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 n;</a:t>
            </a:r>
          </a:p>
          <a:p>
            <a:r>
              <a:rPr lang="en-US" sz="2000" b="0" i="0" dirty="0" smtClean="0">
                <a:solidFill>
                  <a:srgbClr val="286491"/>
                </a:solidFill>
                <a:effectLst/>
                <a:latin typeface="Times New Roman" panose="02020603050405020304" pitchFamily="18" charset="0"/>
                <a:cs typeface="Times New Roman" panose="02020603050405020304" pitchFamily="18" charset="0"/>
              </a:rPr>
              <a:t>if</a:t>
            </a:r>
            <a:r>
              <a:rPr lang="en-US" sz="2000" b="0" i="0" dirty="0" smtClean="0">
                <a:solidFill>
                  <a:srgbClr val="000000"/>
                </a:solidFill>
                <a:effectLst/>
                <a:latin typeface="Times New Roman" panose="02020603050405020304" pitchFamily="18" charset="0"/>
                <a:cs typeface="Times New Roman" panose="02020603050405020304" pitchFamily="18" charset="0"/>
              </a:rPr>
              <a:t> </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j == </a:t>
            </a:r>
            <a:r>
              <a:rPr lang="en-US" sz="2000" b="0" i="0" dirty="0" err="1" smtClean="0">
                <a:solidFill>
                  <a:srgbClr val="000000"/>
                </a:solidFill>
                <a:effectLst/>
                <a:latin typeface="Times New Roman" panose="02020603050405020304" pitchFamily="18" charset="0"/>
                <a:cs typeface="Times New Roman" panose="02020603050405020304" pitchFamily="18" charset="0"/>
              </a:rPr>
              <a:t>i</a:t>
            </a:r>
            <a:r>
              <a:rPr lang="en-US" sz="2000" b="0" i="0" dirty="0" smtClean="0">
                <a:solidFill>
                  <a:srgbClr val="777777"/>
                </a:solidFill>
                <a:effectLst/>
                <a:latin typeface="Times New Roman" panose="02020603050405020304" pitchFamily="18" charset="0"/>
                <a:cs typeface="Times New Roman" panose="02020603050405020304" pitchFamily="18" charset="0"/>
              </a:rPr>
              <a:t>)</a:t>
            </a:r>
            <a:endParaRPr lang="en-US" sz="2000" b="0" i="0" dirty="0" smtClean="0">
              <a:solidFill>
                <a:srgbClr val="286491"/>
              </a:solidFill>
              <a:effectLst/>
              <a:latin typeface="Times New Roman" panose="02020603050405020304" pitchFamily="18" charset="0"/>
              <a:cs typeface="Times New Roman" panose="02020603050405020304" pitchFamily="18" charset="0"/>
            </a:endParaRPr>
          </a:p>
          <a:p>
            <a:r>
              <a:rPr lang="en-US" sz="2000" b="0" i="0" dirty="0" smtClean="0">
                <a:solidFill>
                  <a:srgbClr val="000000"/>
                </a:solidFill>
                <a:effectLst/>
                <a:latin typeface="Times New Roman" panose="02020603050405020304" pitchFamily="18" charset="0"/>
                <a:cs typeface="Times New Roman" panose="02020603050405020304" pitchFamily="18" charset="0"/>
              </a:rPr>
              <a:t>lock = </a:t>
            </a:r>
            <a:r>
              <a:rPr lang="en-US" sz="2000" b="0" i="0" dirty="0" smtClean="0">
                <a:solidFill>
                  <a:srgbClr val="286491"/>
                </a:solidFill>
                <a:effectLst/>
                <a:latin typeface="Times New Roman" panose="02020603050405020304" pitchFamily="18" charset="0"/>
                <a:cs typeface="Times New Roman" panose="02020603050405020304" pitchFamily="18" charset="0"/>
              </a:rPr>
              <a:t>FALSE</a:t>
            </a:r>
            <a:r>
              <a:rPr lang="en-US" sz="2000" b="0" i="0" dirty="0" smtClean="0">
                <a:solidFill>
                  <a:srgbClr val="000000"/>
                </a:solidFill>
                <a:effectLst/>
                <a:latin typeface="Times New Roman" panose="02020603050405020304" pitchFamily="18" charset="0"/>
                <a:cs typeface="Times New Roman" panose="02020603050405020304" pitchFamily="18" charset="0"/>
              </a:rPr>
              <a:t>;</a:t>
            </a:r>
          </a:p>
          <a:p>
            <a:r>
              <a:rPr lang="en-US" sz="2000" b="0" i="0" dirty="0" smtClean="0">
                <a:solidFill>
                  <a:srgbClr val="286491"/>
                </a:solidFill>
                <a:effectLst/>
                <a:latin typeface="Times New Roman" panose="02020603050405020304" pitchFamily="18" charset="0"/>
                <a:cs typeface="Times New Roman" panose="02020603050405020304" pitchFamily="18" charset="0"/>
              </a:rPr>
              <a:t>else</a:t>
            </a:r>
          </a:p>
          <a:p>
            <a:r>
              <a:rPr lang="en-US" sz="2000" b="0" i="0" dirty="0" smtClean="0">
                <a:solidFill>
                  <a:srgbClr val="000000"/>
                </a:solidFill>
                <a:effectLst/>
                <a:latin typeface="Times New Roman" panose="02020603050405020304" pitchFamily="18" charset="0"/>
                <a:cs typeface="Times New Roman" panose="02020603050405020304" pitchFamily="18" charset="0"/>
              </a:rPr>
              <a:t>waiting</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j</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 = </a:t>
            </a:r>
            <a:r>
              <a:rPr lang="en-US" sz="2000" b="0" i="0" dirty="0" smtClean="0">
                <a:solidFill>
                  <a:srgbClr val="286491"/>
                </a:solidFill>
                <a:effectLst/>
                <a:latin typeface="Times New Roman" panose="02020603050405020304" pitchFamily="18" charset="0"/>
                <a:cs typeface="Times New Roman" panose="02020603050405020304" pitchFamily="18" charset="0"/>
              </a:rPr>
              <a:t>FALSE</a:t>
            </a:r>
            <a:r>
              <a:rPr lang="en-US" sz="2000" b="0" i="0" dirty="0" smtClean="0">
                <a:solidFill>
                  <a:srgbClr val="000000"/>
                </a:solidFill>
                <a:effectLst/>
                <a:latin typeface="Times New Roman" panose="02020603050405020304" pitchFamily="18" charset="0"/>
                <a:cs typeface="Times New Roman" panose="02020603050405020304" pitchFamily="18" charset="0"/>
              </a:rPr>
              <a:t>;</a:t>
            </a:r>
          </a:p>
          <a:p>
            <a:r>
              <a:rPr lang="en-US" sz="2000" b="0" i="0" dirty="0" smtClean="0">
                <a:solidFill>
                  <a:srgbClr val="9999AA"/>
                </a:solidFill>
                <a:effectLst/>
                <a:latin typeface="Times New Roman" panose="02020603050405020304" pitchFamily="18" charset="0"/>
                <a:cs typeface="Times New Roman" panose="02020603050405020304" pitchFamily="18" charset="0"/>
              </a:rPr>
              <a:t>// remainder section</a:t>
            </a:r>
          </a:p>
          <a:p>
            <a:r>
              <a:rPr lang="en-US" sz="2000" b="0" i="0" dirty="0" smtClean="0">
                <a:solidFill>
                  <a:srgbClr val="777777"/>
                </a:solidFill>
                <a:effectLst/>
                <a:latin typeface="Times New Roman" panose="02020603050405020304" pitchFamily="18" charset="0"/>
                <a:cs typeface="Times New Roman" panose="02020603050405020304" pitchFamily="18" charset="0"/>
              </a:rPr>
              <a:t>}</a:t>
            </a:r>
          </a:p>
          <a:p>
            <a:r>
              <a:rPr lang="en-US" sz="2000" b="0" i="0" dirty="0" smtClean="0">
                <a:solidFill>
                  <a:srgbClr val="286491"/>
                </a:solidFill>
                <a:effectLst/>
                <a:latin typeface="Times New Roman" panose="02020603050405020304" pitchFamily="18" charset="0"/>
                <a:cs typeface="Times New Roman" panose="02020603050405020304" pitchFamily="18" charset="0"/>
              </a:rPr>
              <a:t>while</a:t>
            </a:r>
            <a:r>
              <a:rPr lang="en-US" sz="2000" b="0" i="0" dirty="0" smtClean="0">
                <a:solidFill>
                  <a:srgbClr val="000000"/>
                </a:solidFill>
                <a:effectLst/>
                <a:latin typeface="Times New Roman" panose="02020603050405020304" pitchFamily="18" charset="0"/>
                <a:cs typeface="Times New Roman" panose="02020603050405020304" pitchFamily="18" charset="0"/>
              </a:rPr>
              <a:t> </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286491"/>
                </a:solidFill>
                <a:effectLst/>
                <a:latin typeface="Times New Roman" panose="02020603050405020304" pitchFamily="18" charset="0"/>
                <a:cs typeface="Times New Roman" panose="02020603050405020304" pitchFamily="18" charset="0"/>
              </a:rPr>
              <a:t>TRUE</a:t>
            </a:r>
            <a:r>
              <a:rPr lang="en-US" sz="2000" b="0" i="0" dirty="0" smtClean="0">
                <a:solidFill>
                  <a:srgbClr val="777777"/>
                </a:solidFill>
                <a:effectLst/>
                <a:latin typeface="Times New Roman" panose="02020603050405020304" pitchFamily="18" charset="0"/>
                <a:cs typeface="Times New Roman" panose="02020603050405020304" pitchFamily="18" charset="0"/>
              </a:rPr>
              <a:t>)</a:t>
            </a:r>
            <a:r>
              <a:rPr lang="en-US" sz="2000" b="0" i="0" dirty="0" smtClean="0">
                <a:solidFill>
                  <a:srgbClr val="000000"/>
                </a:solidFill>
                <a:effectLst/>
                <a:latin typeface="Times New Roman" panose="02020603050405020304" pitchFamily="18" charset="0"/>
                <a:cs typeface="Times New Roman" panose="02020603050405020304" pitchFamily="18" charset="0"/>
              </a:rPr>
              <a:t>;</a:t>
            </a:r>
            <a:endParaRPr lang="en-US" sz="2000" b="0" i="0" dirty="0" smtClean="0">
              <a:solidFill>
                <a:srgbClr val="286491"/>
              </a:solidFill>
              <a:effectLst/>
              <a:latin typeface="Times New Roman" panose="02020603050405020304" pitchFamily="18" charset="0"/>
              <a:cs typeface="Times New Roman" panose="02020603050405020304" pitchFamily="18" charset="0"/>
            </a:endParaRPr>
          </a:p>
          <a:p>
            <a:r>
              <a:rPr lang="en-US" sz="2000" b="0" i="0" dirty="0" smtClean="0">
                <a:solidFill>
                  <a:srgbClr val="222222"/>
                </a:solidFill>
                <a:effectLst/>
                <a:latin typeface="Times New Roman" panose="02020603050405020304" pitchFamily="18" charset="0"/>
                <a:cs typeface="Times New Roman" panose="02020603050405020304" pitchFamily="18" charset="0"/>
              </a:rPr>
              <a:t>Now first we will check how the structure above satisfies mutual exclusion condition. Any process Pi is allowed to get into its critical section only if the first while loop turns to be false i.e. either waiting[</a:t>
            </a:r>
            <a:r>
              <a:rPr lang="en-US" sz="2000" b="0" i="0" dirty="0" err="1" smtClean="0">
                <a:solidFill>
                  <a:srgbClr val="222222"/>
                </a:solidFill>
                <a:effectLst/>
                <a:latin typeface="Times New Roman" panose="02020603050405020304" pitchFamily="18" charset="0"/>
                <a:cs typeface="Times New Roman" panose="02020603050405020304" pitchFamily="18" charset="0"/>
              </a:rPr>
              <a:t>i</a:t>
            </a:r>
            <a:r>
              <a:rPr lang="en-US" sz="2000" b="0" i="0" dirty="0" smtClean="0">
                <a:solidFill>
                  <a:srgbClr val="222222"/>
                </a:solidFill>
                <a:effectLst/>
                <a:latin typeface="Times New Roman" panose="02020603050405020304" pitchFamily="18" charset="0"/>
                <a:cs typeface="Times New Roman" panose="02020603050405020304" pitchFamily="18" charset="0"/>
              </a:rPr>
              <a:t>] ==false or key==false.</a:t>
            </a:r>
          </a:p>
          <a:p>
            <a:r>
              <a:rPr lang="en-US" sz="2000" b="0" i="0" dirty="0" smtClean="0">
                <a:solidFill>
                  <a:srgbClr val="222222"/>
                </a:solidFill>
                <a:effectLst/>
                <a:latin typeface="Times New Roman" panose="02020603050405020304" pitchFamily="18" charset="0"/>
                <a:cs typeface="Times New Roman" panose="02020603050405020304" pitchFamily="18" charset="0"/>
              </a:rPr>
              <a:t>The very first process executing this code will get the chance to set the key==false and will enter the critical section and refrains other processes from entering into their critical section. This satisfies mutual exclusion.</a:t>
            </a:r>
          </a:p>
          <a:p>
            <a:r>
              <a:rPr lang="en-US" sz="2000" b="0" i="0" dirty="0" smtClean="0">
                <a:solidFill>
                  <a:srgbClr val="222222"/>
                </a:solidFill>
                <a:effectLst/>
                <a:latin typeface="Times New Roman" panose="02020603050405020304" pitchFamily="18" charset="0"/>
                <a:cs typeface="Times New Roman" panose="02020603050405020304" pitchFamily="18" charset="0"/>
              </a:rPr>
              <a:t>Now about bounded wait and progress, the process executing the critical section will either set lock==false or it will set waiting[j]==false. Here, both the settings will let processes waiting to enter their critical section to proceed. The process exiting its critical section scans the waiting[j] array, where j = (</a:t>
            </a:r>
            <a:r>
              <a:rPr lang="en-US" sz="2000" b="0" i="0" dirty="0" err="1" smtClean="0">
                <a:solidFill>
                  <a:srgbClr val="222222"/>
                </a:solidFill>
                <a:effectLst/>
                <a:latin typeface="Times New Roman" panose="02020603050405020304" pitchFamily="18" charset="0"/>
                <a:cs typeface="Times New Roman" panose="02020603050405020304" pitchFamily="18" charset="0"/>
              </a:rPr>
              <a:t>i</a:t>
            </a:r>
            <a:r>
              <a:rPr lang="en-US" sz="2000" b="0" i="0" dirty="0" smtClean="0">
                <a:solidFill>
                  <a:srgbClr val="222222"/>
                </a:solidFill>
                <a:effectLst/>
                <a:latin typeface="Times New Roman" panose="02020603050405020304" pitchFamily="18" charset="0"/>
                <a:cs typeface="Times New Roman" panose="02020603050405020304" pitchFamily="18" charset="0"/>
              </a:rPr>
              <a:t>+ 1, </a:t>
            </a:r>
            <a:r>
              <a:rPr lang="en-US" sz="2000" b="0" i="0" dirty="0" err="1" smtClean="0">
                <a:solidFill>
                  <a:srgbClr val="222222"/>
                </a:solidFill>
                <a:effectLst/>
                <a:latin typeface="Times New Roman" panose="02020603050405020304" pitchFamily="18" charset="0"/>
                <a:cs typeface="Times New Roman" panose="02020603050405020304" pitchFamily="18" charset="0"/>
              </a:rPr>
              <a:t>i</a:t>
            </a:r>
            <a:endParaRPr lang="en-US" sz="2000" b="0" i="0" dirty="0" smtClean="0">
              <a:solidFill>
                <a:srgbClr val="222222"/>
              </a:solidFill>
              <a:effectLst/>
              <a:latin typeface="Times New Roman" panose="02020603050405020304" pitchFamily="18" charset="0"/>
              <a:cs typeface="Times New Roman" panose="02020603050405020304" pitchFamily="18" charset="0"/>
            </a:endParaRPr>
          </a:p>
          <a:p>
            <a:r>
              <a:rPr lang="en-US" sz="2000" b="0" i="0" dirty="0" smtClean="0">
                <a:solidFill>
                  <a:srgbClr val="222222"/>
                </a:solidFill>
                <a:effectLst/>
                <a:latin typeface="Times New Roman" panose="02020603050405020304" pitchFamily="18" charset="0"/>
                <a:cs typeface="Times New Roman" panose="02020603050405020304" pitchFamily="18" charset="0"/>
              </a:rPr>
              <a:t>+ 2, …, n-1, 0, …, i-1). Thus letting the processes waiting to enter its critical section in n-1 turns.</a:t>
            </a:r>
            <a:endParaRPr lang="en-US" sz="20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8675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2742" y="-106481"/>
            <a:ext cx="9144000" cy="909637"/>
          </a:xfrm>
        </p:spPr>
        <p:txBody>
          <a:bodyPr>
            <a:normAutofit fontScale="90000"/>
          </a:bodyPr>
          <a:lstStyle/>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Swap Hardware Instruction</a:t>
            </a:r>
            <a:endParaRPr lang="en-US" dirty="0"/>
          </a:p>
        </p:txBody>
      </p:sp>
      <p:sp>
        <p:nvSpPr>
          <p:cNvPr id="3" name="Subtitle 2"/>
          <p:cNvSpPr>
            <a:spLocks noGrp="1"/>
          </p:cNvSpPr>
          <p:nvPr>
            <p:ph type="subTitle" idx="1"/>
          </p:nvPr>
        </p:nvSpPr>
        <p:spPr>
          <a:xfrm>
            <a:off x="0" y="740223"/>
            <a:ext cx="11959770" cy="6110520"/>
          </a:xfrm>
        </p:spPr>
        <p:txBody>
          <a:bodyPr>
            <a:noAutofit/>
          </a:bodyPr>
          <a:lstStyle/>
          <a:p>
            <a:r>
              <a:rPr lang="en-US" dirty="0" smtClean="0">
                <a:latin typeface="Times New Roman" panose="02020603050405020304" pitchFamily="18" charset="0"/>
                <a:cs typeface="Times New Roman" panose="02020603050405020304" pitchFamily="18" charset="0"/>
              </a:rPr>
              <a:t>Like </a:t>
            </a:r>
            <a:r>
              <a:rPr lang="en-US" dirty="0" err="1">
                <a:latin typeface="Times New Roman" panose="02020603050405020304" pitchFamily="18" charset="0"/>
                <a:cs typeface="Times New Roman" panose="02020603050405020304" pitchFamily="18" charset="0"/>
              </a:rPr>
              <a:t>TestAndSet</a:t>
            </a:r>
            <a:r>
              <a:rPr lang="en-US" dirty="0">
                <a:latin typeface="Times New Roman" panose="02020603050405020304" pitchFamily="18" charset="0"/>
                <a:cs typeface="Times New Roman" panose="02020603050405020304" pitchFamily="18" charset="0"/>
              </a:rPr>
              <a:t>() instruction the swap() hardware instruction is also an </a:t>
            </a:r>
            <a:r>
              <a:rPr lang="en-US" dirty="0" smtClean="0">
                <a:latin typeface="Times New Roman" panose="02020603050405020304" pitchFamily="18" charset="0"/>
                <a:cs typeface="Times New Roman" panose="02020603050405020304" pitchFamily="18" charset="0"/>
              </a:rPr>
              <a:t>atomic instruction</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With </a:t>
            </a:r>
            <a:r>
              <a:rPr lang="en-US" dirty="0">
                <a:latin typeface="Times New Roman" panose="02020603050405020304" pitchFamily="18" charset="0"/>
                <a:cs typeface="Times New Roman" panose="02020603050405020304" pitchFamily="18" charset="0"/>
              </a:rPr>
              <a:t>a difference that it operates </a:t>
            </a:r>
            <a:r>
              <a:rPr lang="en-US" dirty="0" smtClean="0">
                <a:latin typeface="Times New Roman" panose="02020603050405020304" pitchFamily="18" charset="0"/>
                <a:cs typeface="Times New Roman" panose="02020603050405020304" pitchFamily="18" charset="0"/>
              </a:rPr>
              <a:t>on two </a:t>
            </a:r>
            <a:r>
              <a:rPr lang="en-US" dirty="0">
                <a:latin typeface="Times New Roman" panose="02020603050405020304" pitchFamily="18" charset="0"/>
                <a:cs typeface="Times New Roman" panose="02020603050405020304" pitchFamily="18" charset="0"/>
              </a:rPr>
              <a:t>variables provided in </a:t>
            </a:r>
            <a:r>
              <a:rPr lang="en-US" dirty="0" smtClean="0">
                <a:latin typeface="Times New Roman" panose="02020603050405020304" pitchFamily="18" charset="0"/>
                <a:cs typeface="Times New Roman" panose="02020603050405020304" pitchFamily="18" charset="0"/>
              </a:rPr>
              <a:t>its parameter</a:t>
            </a:r>
            <a:r>
              <a:rPr lang="en-US" dirty="0">
                <a:latin typeface="Times New Roman" panose="02020603050405020304" pitchFamily="18" charset="0"/>
                <a:cs typeface="Times New Roman" panose="02020603050405020304" pitchFamily="18" charset="0"/>
              </a:rPr>
              <a:t>. The structure of swap() instruction </a:t>
            </a:r>
            <a:r>
              <a:rPr lang="en-US" dirty="0" smtClean="0">
                <a:latin typeface="Times New Roman" panose="02020603050405020304" pitchFamily="18" charset="0"/>
                <a:cs typeface="Times New Roman" panose="02020603050405020304" pitchFamily="18" charset="0"/>
              </a:rPr>
              <a:t>is:</a:t>
            </a:r>
          </a:p>
          <a:p>
            <a:r>
              <a:rPr lang="en-US" dirty="0" smtClean="0">
                <a:latin typeface="Times New Roman" panose="02020603050405020304" pitchFamily="18" charset="0"/>
                <a:cs typeface="Times New Roman" panose="02020603050405020304" pitchFamily="18" charset="0"/>
              </a:rPr>
              <a:t>do </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key = TRUE;</a:t>
            </a:r>
          </a:p>
          <a:p>
            <a:r>
              <a:rPr lang="en-US" dirty="0">
                <a:latin typeface="Times New Roman" panose="02020603050405020304" pitchFamily="18" charset="0"/>
                <a:cs typeface="Times New Roman" panose="02020603050405020304" pitchFamily="18" charset="0"/>
              </a:rPr>
              <a:t>while (key == TRUE)</a:t>
            </a:r>
          </a:p>
          <a:p>
            <a:r>
              <a:rPr lang="en-US" dirty="0">
                <a:latin typeface="Times New Roman" panose="02020603050405020304" pitchFamily="18" charset="0"/>
                <a:cs typeface="Times New Roman" panose="02020603050405020304" pitchFamily="18" charset="0"/>
              </a:rPr>
              <a:t>Swap(&amp;lock, &amp;key);</a:t>
            </a:r>
          </a:p>
          <a:p>
            <a:r>
              <a:rPr lang="en-US" dirty="0">
                <a:latin typeface="Times New Roman" panose="02020603050405020304" pitchFamily="18" charset="0"/>
                <a:cs typeface="Times New Roman" panose="02020603050405020304" pitchFamily="18" charset="0"/>
              </a:rPr>
              <a:t>// critical section</a:t>
            </a:r>
          </a:p>
          <a:p>
            <a:r>
              <a:rPr lang="en-US" dirty="0">
                <a:latin typeface="Times New Roman" panose="02020603050405020304" pitchFamily="18" charset="0"/>
                <a:cs typeface="Times New Roman" panose="02020603050405020304" pitchFamily="18" charset="0"/>
              </a:rPr>
              <a:t>lock = FALSE;</a:t>
            </a:r>
          </a:p>
          <a:p>
            <a:r>
              <a:rPr lang="en-US" dirty="0">
                <a:latin typeface="Times New Roman" panose="02020603050405020304" pitchFamily="18" charset="0"/>
                <a:cs typeface="Times New Roman" panose="02020603050405020304" pitchFamily="18" charset="0"/>
              </a:rPr>
              <a:t>// remainder section</a:t>
            </a:r>
          </a:p>
          <a:p>
            <a:r>
              <a:rPr lang="en-US" dirty="0">
                <a:latin typeface="Times New Roman" panose="02020603050405020304" pitchFamily="18" charset="0"/>
                <a:cs typeface="Times New Roman" panose="02020603050405020304" pitchFamily="18" charset="0"/>
              </a:rPr>
              <a:t>} while (TRUE);</a:t>
            </a:r>
          </a:p>
          <a:p>
            <a:r>
              <a:rPr lang="en-US" dirty="0">
                <a:latin typeface="Times New Roman" panose="02020603050405020304" pitchFamily="18" charset="0"/>
                <a:cs typeface="Times New Roman" panose="02020603050405020304" pitchFamily="18" charset="0"/>
              </a:rPr>
              <a:t>To achieve mutual exclusion using swap() instruction, the structure we use is a</a:t>
            </a:r>
          </a:p>
          <a:p>
            <a:r>
              <a:rPr lang="en-US" dirty="0">
                <a:latin typeface="Times New Roman" panose="02020603050405020304" pitchFamily="18" charset="0"/>
                <a:cs typeface="Times New Roman" panose="02020603050405020304" pitchFamily="18" charset="0"/>
              </a:rPr>
              <a:t>follow:</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8512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374" y="145142"/>
            <a:ext cx="11509828" cy="5693866"/>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do {</a:t>
            </a:r>
          </a:p>
          <a:p>
            <a:r>
              <a:rPr lang="en-US" sz="2800" dirty="0">
                <a:latin typeface="Times New Roman" panose="02020603050405020304" pitchFamily="18" charset="0"/>
                <a:cs typeface="Times New Roman" panose="02020603050405020304" pitchFamily="18" charset="0"/>
              </a:rPr>
              <a:t>key = TRUE;</a:t>
            </a:r>
          </a:p>
          <a:p>
            <a:r>
              <a:rPr lang="en-US" sz="2800" dirty="0">
                <a:latin typeface="Times New Roman" panose="02020603050405020304" pitchFamily="18" charset="0"/>
                <a:cs typeface="Times New Roman" panose="02020603050405020304" pitchFamily="18" charset="0"/>
              </a:rPr>
              <a:t>while (key == TRUE)</a:t>
            </a:r>
          </a:p>
          <a:p>
            <a:r>
              <a:rPr lang="en-US" sz="2800" dirty="0">
                <a:latin typeface="Times New Roman" panose="02020603050405020304" pitchFamily="18" charset="0"/>
                <a:cs typeface="Times New Roman" panose="02020603050405020304" pitchFamily="18" charset="0"/>
              </a:rPr>
              <a:t>Swap(&amp;lock, &amp;key);</a:t>
            </a:r>
          </a:p>
          <a:p>
            <a:r>
              <a:rPr lang="en-US" sz="2800" dirty="0">
                <a:latin typeface="Times New Roman" panose="02020603050405020304" pitchFamily="18" charset="0"/>
                <a:cs typeface="Times New Roman" panose="02020603050405020304" pitchFamily="18" charset="0"/>
              </a:rPr>
              <a:t>// critical section</a:t>
            </a:r>
          </a:p>
          <a:p>
            <a:r>
              <a:rPr lang="en-US" sz="2800" dirty="0">
                <a:latin typeface="Times New Roman" panose="02020603050405020304" pitchFamily="18" charset="0"/>
                <a:cs typeface="Times New Roman" panose="02020603050405020304" pitchFamily="18" charset="0"/>
              </a:rPr>
              <a:t>lock = FALSE;</a:t>
            </a:r>
          </a:p>
          <a:p>
            <a:r>
              <a:rPr lang="en-US" sz="2800" dirty="0">
                <a:latin typeface="Times New Roman" panose="02020603050405020304" pitchFamily="18" charset="0"/>
                <a:cs typeface="Times New Roman" panose="02020603050405020304" pitchFamily="18" charset="0"/>
              </a:rPr>
              <a:t>// remainder section</a:t>
            </a:r>
          </a:p>
          <a:p>
            <a:r>
              <a:rPr lang="en-US" sz="2800" dirty="0">
                <a:latin typeface="Times New Roman" panose="02020603050405020304" pitchFamily="18" charset="0"/>
                <a:cs typeface="Times New Roman" panose="02020603050405020304" pitchFamily="18" charset="0"/>
              </a:rPr>
              <a:t>} while (TRUE</a:t>
            </a:r>
            <a:r>
              <a:rPr lang="en-US" sz="2800" dirty="0" smtClean="0">
                <a:latin typeface="Times New Roman" panose="02020603050405020304" pitchFamily="18" charset="0"/>
                <a:cs typeface="Times New Roman" panose="02020603050405020304" pitchFamily="18" charset="0"/>
              </a:rPr>
              <a:t>);</a:t>
            </a:r>
          </a:p>
          <a:p>
            <a:r>
              <a:rPr lang="en-US" sz="2800" dirty="0" smtClean="0"/>
              <a:t> </a:t>
            </a:r>
            <a:r>
              <a:rPr lang="en-US" sz="2800" dirty="0"/>
              <a:t>The structure above operates on one global shared Boolean variable lock </a:t>
            </a:r>
            <a:r>
              <a:rPr lang="en-US" sz="2800" dirty="0" smtClean="0"/>
              <a:t>and another local Boolean </a:t>
            </a:r>
            <a:r>
              <a:rPr lang="en-US" sz="2800" dirty="0"/>
              <a:t>variable key. Both of which are initially set to false. </a:t>
            </a:r>
            <a:r>
              <a:rPr lang="en-US" sz="2800" dirty="0" smtClean="0"/>
              <a:t>The process </a:t>
            </a:r>
            <a:r>
              <a:rPr lang="en-US" sz="2800" dirty="0"/>
              <a:t>P0 interested </a:t>
            </a:r>
            <a:r>
              <a:rPr lang="en-US" sz="2800" dirty="0" smtClean="0"/>
              <a:t>in executing </a:t>
            </a:r>
            <a:r>
              <a:rPr lang="en-US" sz="2800" dirty="0"/>
              <a:t>its critical section execute code above </a:t>
            </a:r>
            <a:r>
              <a:rPr lang="en-US" sz="2800" dirty="0" smtClean="0"/>
              <a:t>and set </a:t>
            </a:r>
            <a:r>
              <a:rPr lang="en-US" sz="2800" dirty="0"/>
              <a:t>lock as true and enter its </a:t>
            </a:r>
            <a:r>
              <a:rPr lang="en-US" sz="2800" dirty="0" smtClean="0"/>
              <a:t>critical section</a:t>
            </a:r>
            <a:r>
              <a:rPr lang="en-US" sz="2800" dirty="0"/>
              <a:t>. Thus refrain other processes </a:t>
            </a:r>
            <a:r>
              <a:rPr lang="en-US" sz="2800" dirty="0" smtClean="0"/>
              <a:t>from executing </a:t>
            </a:r>
            <a:r>
              <a:rPr lang="en-US" sz="2800" dirty="0"/>
              <a:t>their critical section satisfying mutual exclusion</a:t>
            </a:r>
            <a:r>
              <a:rPr lang="en-US" sz="2800" dirty="0" smtClean="0"/>
              <a:t>.</a:t>
            </a:r>
            <a:endParaRPr lang="en-US" sz="2800" dirty="0"/>
          </a:p>
        </p:txBody>
      </p:sp>
    </p:spTree>
    <p:extLst>
      <p:ext uri="{BB962C8B-B14F-4D97-AF65-F5344CB8AC3E}">
        <p14:creationId xmlns:p14="http://schemas.microsoft.com/office/powerpoint/2010/main" val="88688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2171" y="1016001"/>
            <a:ext cx="10537372" cy="711200"/>
          </a:xfrm>
        </p:spPr>
        <p:txBody>
          <a:bodyPr>
            <a:normAutofit fontScale="90000"/>
          </a:bodyPr>
          <a:lstStyle/>
          <a:p>
            <a:r>
              <a:rPr lang="en-US" sz="3100" b="1" u="sng" dirty="0">
                <a:latin typeface="Times New Roman" panose="02020603050405020304" pitchFamily="18" charset="0"/>
                <a:cs typeface="Times New Roman" panose="02020603050405020304" pitchFamily="18" charset="0"/>
              </a:rPr>
              <a:t>Advantages and Disadvantages of Synchronization Hardware</a:t>
            </a:r>
            <a:r>
              <a:rPr lang="en-US" b="1" u="sng" dirty="0" smtClean="0"/>
              <a:t/>
            </a:r>
            <a:br>
              <a:rPr lang="en-US" b="1" u="sng" dirty="0" smtClean="0"/>
            </a:br>
            <a:endParaRPr lang="en-US" b="1" u="sng" dirty="0"/>
          </a:p>
        </p:txBody>
      </p:sp>
      <p:sp>
        <p:nvSpPr>
          <p:cNvPr id="3" name="Subtitle 2"/>
          <p:cNvSpPr>
            <a:spLocks noGrp="1"/>
          </p:cNvSpPr>
          <p:nvPr>
            <p:ph type="subTitle" idx="1"/>
          </p:nvPr>
        </p:nvSpPr>
        <p:spPr>
          <a:xfrm>
            <a:off x="268514" y="1016001"/>
            <a:ext cx="11364686" cy="4426857"/>
          </a:xfrm>
        </p:spPr>
        <p:txBody>
          <a:bodyPr>
            <a:normAutofit fontScale="92500"/>
          </a:bodyPr>
          <a:lstStyle/>
          <a:p>
            <a:r>
              <a:rPr lang="en-US" b="1" u="sng" dirty="0" smtClean="0"/>
              <a:t>Advantages </a:t>
            </a:r>
            <a:r>
              <a:rPr lang="en-US" b="1" u="sng" dirty="0"/>
              <a:t>of Hardware </a:t>
            </a:r>
            <a:r>
              <a:rPr lang="en-US" b="1" u="sng" dirty="0" smtClean="0"/>
              <a:t>Instruction</a:t>
            </a:r>
          </a:p>
          <a:p>
            <a:pPr marL="342900" indent="-342900">
              <a:buFont typeface="Arial" panose="020B0604020202020204" pitchFamily="34" charset="0"/>
              <a:buChar char="•"/>
            </a:pPr>
            <a:r>
              <a:rPr lang="en-US" dirty="0" smtClean="0"/>
              <a:t> Hardware </a:t>
            </a:r>
            <a:r>
              <a:rPr lang="en-US" dirty="0"/>
              <a:t>instructions are easy to implement and improves the </a:t>
            </a:r>
            <a:r>
              <a:rPr lang="en-US" dirty="0" smtClean="0"/>
              <a:t>efficiency of </a:t>
            </a:r>
            <a:r>
              <a:rPr lang="en-US" dirty="0"/>
              <a:t>the system</a:t>
            </a:r>
            <a:r>
              <a:rPr lang="en-US" dirty="0" smtClean="0"/>
              <a:t>. </a:t>
            </a:r>
          </a:p>
          <a:p>
            <a:pPr marL="342900" indent="-342900">
              <a:buFont typeface="Arial" panose="020B0604020202020204" pitchFamily="34" charset="0"/>
              <a:buChar char="•"/>
            </a:pPr>
            <a:r>
              <a:rPr lang="en-US" dirty="0" smtClean="0"/>
              <a:t> Supports </a:t>
            </a:r>
            <a:r>
              <a:rPr lang="en-US" dirty="0"/>
              <a:t>any number of processes may it be on the single or </a:t>
            </a:r>
            <a:r>
              <a:rPr lang="en-US" dirty="0" smtClean="0"/>
              <a:t>multiple processor </a:t>
            </a:r>
            <a:r>
              <a:rPr lang="en-US" dirty="0"/>
              <a:t>system.</a:t>
            </a:r>
          </a:p>
          <a:p>
            <a:pPr marL="342900" indent="-342900">
              <a:buFont typeface="Arial" panose="020B0604020202020204" pitchFamily="34" charset="0"/>
              <a:buChar char="•"/>
            </a:pPr>
            <a:r>
              <a:rPr lang="en-US" dirty="0" smtClean="0"/>
              <a:t>With </a:t>
            </a:r>
            <a:r>
              <a:rPr lang="en-US" dirty="0"/>
              <a:t>hardware instructions, you can implement multiple critical </a:t>
            </a:r>
            <a:r>
              <a:rPr lang="en-US" dirty="0" smtClean="0"/>
              <a:t>sections each </a:t>
            </a:r>
            <a:r>
              <a:rPr lang="en-US" dirty="0"/>
              <a:t>defined with </a:t>
            </a:r>
            <a:r>
              <a:rPr lang="en-US" dirty="0" smtClean="0"/>
              <a:t>a unique </a:t>
            </a:r>
            <a:r>
              <a:rPr lang="en-US" dirty="0"/>
              <a:t>variable.</a:t>
            </a:r>
          </a:p>
          <a:p>
            <a:r>
              <a:rPr lang="en-US" b="1" u="sng" dirty="0"/>
              <a:t>Disadvantages of Hardware Instruction</a:t>
            </a:r>
          </a:p>
          <a:p>
            <a:pPr marL="342900" indent="-342900">
              <a:buFont typeface="Arial" panose="020B0604020202020204" pitchFamily="34" charset="0"/>
              <a:buChar char="•"/>
            </a:pPr>
            <a:r>
              <a:rPr lang="en-US" dirty="0" smtClean="0"/>
              <a:t>Processes </a:t>
            </a:r>
            <a:r>
              <a:rPr lang="en-US" dirty="0"/>
              <a:t>waiting for entering their critical section consumes a lot </a:t>
            </a:r>
            <a:r>
              <a:rPr lang="en-US" dirty="0" smtClean="0"/>
              <a:t>of processors </a:t>
            </a:r>
            <a:r>
              <a:rPr lang="en-US" dirty="0"/>
              <a:t>time </a:t>
            </a:r>
            <a:r>
              <a:rPr lang="en-US" dirty="0" smtClean="0"/>
              <a:t>which increases </a:t>
            </a:r>
            <a:r>
              <a:rPr lang="en-US" dirty="0"/>
              <a:t>busy waiting.</a:t>
            </a:r>
          </a:p>
          <a:p>
            <a:pPr marL="342900" indent="-342900">
              <a:buFont typeface="Arial" panose="020B0604020202020204" pitchFamily="34" charset="0"/>
              <a:buChar char="•"/>
            </a:pPr>
            <a:r>
              <a:rPr lang="en-US" dirty="0" smtClean="0"/>
              <a:t>As </a:t>
            </a:r>
            <a:r>
              <a:rPr lang="en-US" dirty="0"/>
              <a:t>the selection of processes to enter their critical section is arbitrary. </a:t>
            </a:r>
            <a:r>
              <a:rPr lang="en-US" dirty="0" smtClean="0"/>
              <a:t>It may </a:t>
            </a:r>
            <a:r>
              <a:rPr lang="en-US" dirty="0"/>
              <a:t>happen that some processes are waiting for the indefinite </a:t>
            </a:r>
            <a:r>
              <a:rPr lang="en-US" dirty="0" smtClean="0"/>
              <a:t>time which </a:t>
            </a:r>
            <a:r>
              <a:rPr lang="en-US" dirty="0"/>
              <a:t>leads to process </a:t>
            </a:r>
            <a:r>
              <a:rPr lang="en-US" dirty="0" smtClean="0"/>
              <a:t>starvation.</a:t>
            </a:r>
          </a:p>
          <a:p>
            <a:pPr marL="342900" indent="-342900">
              <a:buFont typeface="Arial" panose="020B0604020202020204" pitchFamily="34" charset="0"/>
              <a:buChar char="•"/>
            </a:pPr>
            <a:r>
              <a:rPr lang="en-US" dirty="0" smtClean="0"/>
              <a:t>Deadlock </a:t>
            </a:r>
            <a:r>
              <a:rPr lang="en-US" dirty="0"/>
              <a:t>is also possible.</a:t>
            </a:r>
          </a:p>
          <a:p>
            <a:endParaRPr lang="en-US" dirty="0"/>
          </a:p>
        </p:txBody>
      </p:sp>
    </p:spTree>
    <p:extLst>
      <p:ext uri="{BB962C8B-B14F-4D97-AF65-F5344CB8AC3E}">
        <p14:creationId xmlns:p14="http://schemas.microsoft.com/office/powerpoint/2010/main" val="4236241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570" y="145144"/>
            <a:ext cx="6027058" cy="1233716"/>
          </a:xfrm>
        </p:spPr>
        <p:txBody>
          <a:bodyPr>
            <a:normAutofit fontScale="90000"/>
          </a:bodyPr>
          <a:lstStyle/>
          <a:p>
            <a:r>
              <a:rPr lang="en-US" b="1" dirty="0"/>
              <a:t>Thread in Operating System</a:t>
            </a:r>
            <a:br>
              <a:rPr lang="en-US" b="1" dirty="0"/>
            </a:br>
            <a:endParaRPr lang="en-US" dirty="0"/>
          </a:p>
        </p:txBody>
      </p:sp>
      <p:sp>
        <p:nvSpPr>
          <p:cNvPr id="3" name="Content Placeholder 2"/>
          <p:cNvSpPr>
            <a:spLocks noGrp="1"/>
          </p:cNvSpPr>
          <p:nvPr>
            <p:ph idx="1"/>
          </p:nvPr>
        </p:nvSpPr>
        <p:spPr>
          <a:xfrm>
            <a:off x="838200" y="1088570"/>
            <a:ext cx="10515600" cy="5769429"/>
          </a:xfrm>
        </p:spPr>
        <p:txBody>
          <a:bodyPr>
            <a:normAutofit/>
          </a:bodyPr>
          <a:lstStyle/>
          <a:p>
            <a:pPr fontAlgn="base"/>
            <a:r>
              <a:rPr lang="en-US" dirty="0"/>
              <a:t>Within a program, a </a:t>
            </a:r>
            <a:r>
              <a:rPr lang="en-US" b="1" dirty="0"/>
              <a:t>Thread </a:t>
            </a:r>
            <a:r>
              <a:rPr lang="en-US" dirty="0"/>
              <a:t>is a separate execution path. It is a lightweight process that the operating system can schedule and run concurrently with other threads. The operating system creates and manages threads, and they share the same memory and resources as the program that created them. This enables multiple threads to collaborate and work efficiently within a single program.</a:t>
            </a:r>
          </a:p>
          <a:p>
            <a:pPr fontAlgn="base"/>
            <a:r>
              <a:rPr lang="en-US" dirty="0"/>
              <a:t>A thread is a single sequence stream within a process. Threads are also called lightweight processes as they possess some of the properties of processes. Each thread belongs to exactly one process. In an operating system that supports multithreading, the process can consist of many threads. But threads can be effective only if CPU is more than 1 otherwise two threads have to context switch for that single CPU.</a:t>
            </a:r>
          </a:p>
          <a:p>
            <a:endParaRPr lang="en-US" dirty="0"/>
          </a:p>
        </p:txBody>
      </p:sp>
    </p:spTree>
    <p:extLst>
      <p:ext uri="{BB962C8B-B14F-4D97-AF65-F5344CB8AC3E}">
        <p14:creationId xmlns:p14="http://schemas.microsoft.com/office/powerpoint/2010/main" val="1042137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314" y="221465"/>
            <a:ext cx="10943772" cy="5078313"/>
          </a:xfrm>
          <a:prstGeom prst="rect">
            <a:avLst/>
          </a:prstGeom>
        </p:spPr>
        <p:txBody>
          <a:bodyPr wrap="square">
            <a:spAutoFit/>
          </a:bodyPr>
          <a:lstStyle/>
          <a:p>
            <a:pPr fontAlgn="base"/>
            <a:r>
              <a:rPr lang="en-US" b="1" i="0" u="sng" dirty="0" smtClean="0">
                <a:solidFill>
                  <a:srgbClr val="273239"/>
                </a:solidFill>
                <a:effectLst/>
                <a:latin typeface="Nunito"/>
              </a:rPr>
              <a:t>Why Do We Need Thread?</a:t>
            </a:r>
          </a:p>
          <a:p>
            <a:pPr fontAlgn="base">
              <a:buFont typeface="Arial" panose="020B0604020202020204" pitchFamily="34" charset="0"/>
              <a:buChar char="•"/>
            </a:pPr>
            <a:r>
              <a:rPr lang="en-US" b="0" i="0" dirty="0" smtClean="0">
                <a:solidFill>
                  <a:srgbClr val="273239"/>
                </a:solidFill>
                <a:effectLst/>
                <a:latin typeface="Nunito"/>
              </a:rPr>
              <a:t>Threads run in parallel improving the application performance. Each such thread has its own CPU state and stack, but they share the address space of the process and the environment. </a:t>
            </a:r>
          </a:p>
          <a:p>
            <a:pPr fontAlgn="base">
              <a:buFont typeface="Arial" panose="020B0604020202020204" pitchFamily="34" charset="0"/>
              <a:buChar char="•"/>
            </a:pPr>
            <a:r>
              <a:rPr lang="en-US" b="0" i="0" dirty="0" smtClean="0">
                <a:solidFill>
                  <a:srgbClr val="273239"/>
                </a:solidFill>
                <a:effectLst/>
                <a:latin typeface="Nunito"/>
              </a:rPr>
              <a:t>Threads can share common data so they do not need to use </a:t>
            </a:r>
            <a:r>
              <a:rPr lang="en-US" b="0" i="0" dirty="0" err="1" smtClean="0">
                <a:solidFill>
                  <a:srgbClr val="273239"/>
                </a:solidFill>
                <a:effectLst/>
                <a:latin typeface="Nunito"/>
              </a:rPr>
              <a:t>interprocess</a:t>
            </a:r>
            <a:r>
              <a:rPr lang="en-US" b="0" i="0" dirty="0" smtClean="0">
                <a:solidFill>
                  <a:srgbClr val="273239"/>
                </a:solidFill>
                <a:effectLst/>
                <a:latin typeface="Nunito"/>
              </a:rPr>
              <a:t> communication. Like the processes, threads also have states like ready, executing, blocked, etc. </a:t>
            </a:r>
          </a:p>
          <a:p>
            <a:pPr fontAlgn="base">
              <a:buFont typeface="Arial" panose="020B0604020202020204" pitchFamily="34" charset="0"/>
              <a:buChar char="•"/>
            </a:pPr>
            <a:r>
              <a:rPr lang="en-US" b="0" i="0" dirty="0" smtClean="0">
                <a:solidFill>
                  <a:srgbClr val="273239"/>
                </a:solidFill>
                <a:effectLst/>
                <a:latin typeface="Nunito"/>
              </a:rPr>
              <a:t>Priority can be assigned to the threads just like the process, and the highest priority thread is scheduled first.</a:t>
            </a:r>
          </a:p>
          <a:p>
            <a:pPr fontAlgn="base">
              <a:buFont typeface="Arial" panose="020B0604020202020204" pitchFamily="34" charset="0"/>
              <a:buChar char="•"/>
            </a:pPr>
            <a:r>
              <a:rPr lang="en-US" b="0" i="0" dirty="0" smtClean="0">
                <a:solidFill>
                  <a:srgbClr val="273239"/>
                </a:solidFill>
                <a:effectLst/>
                <a:latin typeface="Nunito"/>
              </a:rPr>
              <a:t>Each thread has its own </a:t>
            </a:r>
            <a:r>
              <a:rPr lang="en-US" b="0" i="0" u="sng" dirty="0" smtClean="0">
                <a:solidFill>
                  <a:srgbClr val="273239"/>
                </a:solidFill>
                <a:effectLst/>
                <a:latin typeface="Nunito"/>
                <a:hlinkClick r:id="rId2"/>
              </a:rPr>
              <a:t>Thread Control Block (TCB)</a:t>
            </a:r>
            <a:r>
              <a:rPr lang="en-US" b="0" i="0" dirty="0" smtClean="0">
                <a:solidFill>
                  <a:srgbClr val="273239"/>
                </a:solidFill>
                <a:effectLst/>
                <a:latin typeface="Nunito"/>
              </a:rPr>
              <a:t>. Like the process, a context switch occurs for the thread, and register contents are saved in (TCB). As threads share the same address space and resources, synchronization is also required for the various activities of the thread.</a:t>
            </a:r>
          </a:p>
          <a:p>
            <a:pPr fontAlgn="base"/>
            <a:r>
              <a:rPr lang="en-US" b="1" i="0" u="sng" dirty="0" smtClean="0">
                <a:solidFill>
                  <a:srgbClr val="273239"/>
                </a:solidFill>
                <a:effectLst/>
                <a:latin typeface="Nunito"/>
              </a:rPr>
              <a:t>Why Multi-Threading?</a:t>
            </a:r>
            <a:r>
              <a:rPr lang="en-US" b="1" i="0" dirty="0" smtClean="0">
                <a:solidFill>
                  <a:srgbClr val="273239"/>
                </a:solidFill>
                <a:effectLst/>
                <a:latin typeface="Nunito"/>
              </a:rPr>
              <a:t> </a:t>
            </a:r>
          </a:p>
          <a:p>
            <a:pPr algn="just" fontAlgn="base"/>
            <a:r>
              <a:rPr lang="en-US" b="0" i="0" dirty="0" smtClean="0">
                <a:solidFill>
                  <a:srgbClr val="273239"/>
                </a:solidFill>
                <a:effectLst/>
                <a:latin typeface="Nunito"/>
              </a:rPr>
              <a:t>A thread is also known as a lightweight process. The idea is to achieve parallelism by dividing a process into multiple threads. For example, in a browser, multiple tabs can be different threads. MS Word uses multiple threads: one thread to format the text, another thread to process inputs, etc. More advantages of multithreading are discussed below.</a:t>
            </a:r>
          </a:p>
          <a:p>
            <a:pPr algn="just" fontAlgn="base"/>
            <a:r>
              <a:rPr lang="en-US" b="0" i="0" dirty="0" smtClean="0">
                <a:solidFill>
                  <a:srgbClr val="273239"/>
                </a:solidFill>
                <a:effectLst/>
                <a:latin typeface="Nunito"/>
              </a:rPr>
              <a:t>Multithreading is a technique used in operating systems to improve the performance and responsiveness of computer systems. Multithreading allows multiple threads (i.e., lightweight processes) to share the same resources of a single process, such as the CPU, memory, and I/O devices</a:t>
            </a:r>
            <a:endParaRPr lang="en-US" b="0" i="0" dirty="0">
              <a:solidFill>
                <a:srgbClr val="273239"/>
              </a:solidFill>
              <a:effectLst/>
              <a:latin typeface="Nunito"/>
            </a:endParaRPr>
          </a:p>
        </p:txBody>
      </p:sp>
    </p:spTree>
    <p:extLst>
      <p:ext uri="{BB962C8B-B14F-4D97-AF65-F5344CB8AC3E}">
        <p14:creationId xmlns:p14="http://schemas.microsoft.com/office/powerpoint/2010/main" val="3877712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 between Process and Thread:</a:t>
            </a:r>
            <a:br>
              <a:rPr lang="en-US" b="1" dirty="0"/>
            </a:br>
            <a:endParaRPr lang="en-US" dirty="0"/>
          </a:p>
        </p:txBody>
      </p:sp>
      <p:sp>
        <p:nvSpPr>
          <p:cNvPr id="3" name="Text Placeholder 2"/>
          <p:cNvSpPr>
            <a:spLocks noGrp="1"/>
          </p:cNvSpPr>
          <p:nvPr>
            <p:ph type="body" idx="1"/>
          </p:nvPr>
        </p:nvSpPr>
        <p:spPr>
          <a:xfrm>
            <a:off x="839788" y="1132115"/>
            <a:ext cx="5157787" cy="558574"/>
          </a:xfrm>
        </p:spPr>
        <p:txBody>
          <a:bodyPr>
            <a:normAutofit/>
          </a:bodyPr>
          <a:lstStyle/>
          <a:p>
            <a:r>
              <a:rPr lang="en-US" sz="3200" dirty="0" smtClean="0">
                <a:latin typeface="Times New Roman" panose="02020603050405020304" pitchFamily="18" charset="0"/>
                <a:cs typeface="Times New Roman" panose="02020603050405020304" pitchFamily="18" charset="0"/>
              </a:rPr>
              <a:t>process</a:t>
            </a:r>
            <a:endParaRPr lang="en-US"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sz="half" idx="2"/>
            <p:extLst>
              <p:ext uri="{D42A27DB-BD31-4B8C-83A1-F6EECF244321}">
                <p14:modId xmlns:p14="http://schemas.microsoft.com/office/powerpoint/2010/main" val="1668740057"/>
              </p:ext>
            </p:extLst>
          </p:nvPr>
        </p:nvGraphicFramePr>
        <p:xfrm>
          <a:off x="839788" y="1663338"/>
          <a:ext cx="5157788" cy="3416662"/>
        </p:xfrm>
        <a:graphic>
          <a:graphicData uri="http://schemas.openxmlformats.org/drawingml/2006/table">
            <a:tbl>
              <a:tblPr firstRow="1" bandRow="1">
                <a:tableStyleId>{5C22544A-7EE6-4342-B048-85BDC9FD1C3A}</a:tableStyleId>
              </a:tblPr>
              <a:tblGrid>
                <a:gridCol w="350383">
                  <a:extLst>
                    <a:ext uri="{9D8B030D-6E8A-4147-A177-3AD203B41FA5}">
                      <a16:colId xmlns:a16="http://schemas.microsoft.com/office/drawing/2014/main" val="3733846392"/>
                    </a:ext>
                  </a:extLst>
                </a:gridCol>
                <a:gridCol w="4807405">
                  <a:extLst>
                    <a:ext uri="{9D8B030D-6E8A-4147-A177-3AD203B41FA5}">
                      <a16:colId xmlns:a16="http://schemas.microsoft.com/office/drawing/2014/main" val="1369426049"/>
                    </a:ext>
                  </a:extLst>
                </a:gridCol>
              </a:tblGrid>
              <a:tr h="330041">
                <a:tc>
                  <a:txBody>
                    <a:bodyPr/>
                    <a:lstStyle/>
                    <a:p>
                      <a:r>
                        <a:rPr lang="en-US" dirty="0" smtClean="0"/>
                        <a:t>1</a:t>
                      </a:r>
                      <a:endParaRPr lang="en-US" dirty="0"/>
                    </a:p>
                  </a:txBody>
                  <a:tcPr/>
                </a:tc>
                <a:tc>
                  <a:txBody>
                    <a:bodyPr/>
                    <a:lstStyle/>
                    <a:p>
                      <a:r>
                        <a:rPr lang="en-US" sz="1800" b="0" i="0" kern="1200" dirty="0" smtClean="0">
                          <a:solidFill>
                            <a:schemeClr val="lt1"/>
                          </a:solidFill>
                          <a:effectLst/>
                          <a:latin typeface="+mn-lt"/>
                          <a:ea typeface="+mn-ea"/>
                          <a:cs typeface="+mn-cs"/>
                        </a:rPr>
                        <a:t>Process means any program is in execution.</a:t>
                      </a:r>
                      <a:endParaRPr lang="en-US" dirty="0"/>
                    </a:p>
                  </a:txBody>
                  <a:tcPr/>
                </a:tc>
                <a:extLst>
                  <a:ext uri="{0D108BD9-81ED-4DB2-BD59-A6C34878D82A}">
                    <a16:rowId xmlns:a16="http://schemas.microsoft.com/office/drawing/2014/main" val="4217738448"/>
                  </a:ext>
                </a:extLst>
              </a:tr>
              <a:tr h="330041">
                <a:tc>
                  <a:txBody>
                    <a:bodyPr/>
                    <a:lstStyle/>
                    <a:p>
                      <a:r>
                        <a:rPr lang="en-US" dirty="0" smtClean="0"/>
                        <a:t>2</a:t>
                      </a:r>
                      <a:endParaRPr lang="en-US" dirty="0"/>
                    </a:p>
                  </a:txBody>
                  <a:tcPr/>
                </a:tc>
                <a:tc>
                  <a:txBody>
                    <a:bodyPr/>
                    <a:lstStyle/>
                    <a:p>
                      <a:r>
                        <a:rPr lang="en-US" sz="1800" b="0" i="0" kern="1200" dirty="0" smtClean="0">
                          <a:solidFill>
                            <a:schemeClr val="dk1"/>
                          </a:solidFill>
                          <a:effectLst/>
                          <a:latin typeface="+mn-lt"/>
                          <a:ea typeface="+mn-ea"/>
                          <a:cs typeface="+mn-cs"/>
                        </a:rPr>
                        <a:t>The process takes more time to terminate.</a:t>
                      </a:r>
                      <a:endParaRPr lang="en-US" dirty="0"/>
                    </a:p>
                  </a:txBody>
                  <a:tcPr/>
                </a:tc>
                <a:extLst>
                  <a:ext uri="{0D108BD9-81ED-4DB2-BD59-A6C34878D82A}">
                    <a16:rowId xmlns:a16="http://schemas.microsoft.com/office/drawing/2014/main" val="415309853"/>
                  </a:ext>
                </a:extLst>
              </a:tr>
              <a:tr h="330041">
                <a:tc>
                  <a:txBody>
                    <a:bodyPr/>
                    <a:lstStyle/>
                    <a:p>
                      <a:r>
                        <a:rPr lang="en-US" dirty="0" smtClean="0"/>
                        <a:t>3</a:t>
                      </a:r>
                      <a:endParaRPr lang="en-US" dirty="0"/>
                    </a:p>
                  </a:txBody>
                  <a:tcPr/>
                </a:tc>
                <a:tc>
                  <a:txBody>
                    <a:bodyPr/>
                    <a:lstStyle/>
                    <a:p>
                      <a:r>
                        <a:rPr lang="en-US" sz="1800" b="0" i="0" kern="1200" dirty="0" smtClean="0">
                          <a:solidFill>
                            <a:schemeClr val="dk1"/>
                          </a:solidFill>
                          <a:effectLst/>
                          <a:latin typeface="+mn-lt"/>
                          <a:ea typeface="+mn-ea"/>
                          <a:cs typeface="+mn-cs"/>
                        </a:rPr>
                        <a:t>It takes more time for creation.</a:t>
                      </a:r>
                      <a:endParaRPr lang="en-US" dirty="0"/>
                    </a:p>
                  </a:txBody>
                  <a:tcPr/>
                </a:tc>
                <a:extLst>
                  <a:ext uri="{0D108BD9-81ED-4DB2-BD59-A6C34878D82A}">
                    <a16:rowId xmlns:a16="http://schemas.microsoft.com/office/drawing/2014/main" val="738491127"/>
                  </a:ext>
                </a:extLst>
              </a:tr>
              <a:tr h="330041">
                <a:tc>
                  <a:txBody>
                    <a:bodyPr/>
                    <a:lstStyle/>
                    <a:p>
                      <a:r>
                        <a:rPr lang="en-US" dirty="0" smtClean="0"/>
                        <a:t>4</a:t>
                      </a:r>
                      <a:endParaRPr lang="en-US" dirty="0"/>
                    </a:p>
                  </a:txBody>
                  <a:tcPr/>
                </a:tc>
                <a:tc>
                  <a:txBody>
                    <a:bodyPr/>
                    <a:lstStyle/>
                    <a:p>
                      <a:r>
                        <a:rPr lang="en-US" sz="1800" b="0" i="0" kern="1200" dirty="0" smtClean="0">
                          <a:solidFill>
                            <a:schemeClr val="dk1"/>
                          </a:solidFill>
                          <a:effectLst/>
                          <a:latin typeface="+mn-lt"/>
                          <a:ea typeface="+mn-ea"/>
                          <a:cs typeface="+mn-cs"/>
                        </a:rPr>
                        <a:t>It also takes more time for context switching.</a:t>
                      </a:r>
                      <a:endParaRPr lang="en-US" dirty="0"/>
                    </a:p>
                  </a:txBody>
                  <a:tcPr/>
                </a:tc>
                <a:extLst>
                  <a:ext uri="{0D108BD9-81ED-4DB2-BD59-A6C34878D82A}">
                    <a16:rowId xmlns:a16="http://schemas.microsoft.com/office/drawing/2014/main" val="4239191862"/>
                  </a:ext>
                </a:extLst>
              </a:tr>
              <a:tr h="330041">
                <a:tc>
                  <a:txBody>
                    <a:bodyPr/>
                    <a:lstStyle/>
                    <a:p>
                      <a:r>
                        <a:rPr lang="en-US" dirty="0" smtClean="0"/>
                        <a:t>5</a:t>
                      </a:r>
                      <a:endParaRPr lang="en-US" dirty="0"/>
                    </a:p>
                  </a:txBody>
                  <a:tcPr/>
                </a:tc>
                <a:tc>
                  <a:txBody>
                    <a:bodyPr/>
                    <a:lstStyle/>
                    <a:p>
                      <a:r>
                        <a:rPr lang="en-US" sz="1800" b="0" i="0" kern="1200" dirty="0" smtClean="0">
                          <a:solidFill>
                            <a:schemeClr val="dk1"/>
                          </a:solidFill>
                          <a:effectLst/>
                          <a:latin typeface="+mn-lt"/>
                          <a:ea typeface="+mn-ea"/>
                          <a:cs typeface="+mn-cs"/>
                        </a:rPr>
                        <a:t>The process is less efficient in terms of communication.</a:t>
                      </a:r>
                      <a:endParaRPr lang="en-US" dirty="0"/>
                    </a:p>
                  </a:txBody>
                  <a:tcPr/>
                </a:tc>
                <a:extLst>
                  <a:ext uri="{0D108BD9-81ED-4DB2-BD59-A6C34878D82A}">
                    <a16:rowId xmlns:a16="http://schemas.microsoft.com/office/drawing/2014/main" val="3110385580"/>
                  </a:ext>
                </a:extLst>
              </a:tr>
              <a:tr h="330041">
                <a:tc>
                  <a:txBody>
                    <a:bodyPr/>
                    <a:lstStyle/>
                    <a:p>
                      <a:r>
                        <a:rPr lang="en-US" dirty="0" smtClean="0"/>
                        <a:t>6</a:t>
                      </a:r>
                      <a:endParaRPr lang="en-US" dirty="0"/>
                    </a:p>
                  </a:txBody>
                  <a:tcPr/>
                </a:tc>
                <a:tc>
                  <a:txBody>
                    <a:bodyPr/>
                    <a:lstStyle/>
                    <a:p>
                      <a:r>
                        <a:rPr lang="en-US" sz="1800" b="0" i="0" kern="1200" dirty="0" smtClean="0">
                          <a:solidFill>
                            <a:schemeClr val="dk1"/>
                          </a:solidFill>
                          <a:effectLst/>
                          <a:latin typeface="+mn-lt"/>
                          <a:ea typeface="+mn-ea"/>
                          <a:cs typeface="+mn-cs"/>
                        </a:rPr>
                        <a:t>Multiprogramming holds the concepts of multi-process.</a:t>
                      </a:r>
                      <a:endParaRPr lang="en-US" dirty="0"/>
                    </a:p>
                  </a:txBody>
                  <a:tcPr/>
                </a:tc>
                <a:extLst>
                  <a:ext uri="{0D108BD9-81ED-4DB2-BD59-A6C34878D82A}">
                    <a16:rowId xmlns:a16="http://schemas.microsoft.com/office/drawing/2014/main" val="2804549265"/>
                  </a:ext>
                </a:extLst>
              </a:tr>
              <a:tr h="673462">
                <a:tc>
                  <a:txBody>
                    <a:bodyPr/>
                    <a:lstStyle/>
                    <a:p>
                      <a:r>
                        <a:rPr lang="en-US" dirty="0" smtClean="0"/>
                        <a:t>7</a:t>
                      </a:r>
                      <a:endParaRPr lang="en-US" dirty="0"/>
                    </a:p>
                  </a:txBody>
                  <a:tcPr/>
                </a:tc>
                <a:tc>
                  <a:txBody>
                    <a:bodyPr/>
                    <a:lstStyle/>
                    <a:p>
                      <a:r>
                        <a:rPr lang="en-US" sz="1800" b="0" i="0" kern="1200" dirty="0" smtClean="0">
                          <a:solidFill>
                            <a:schemeClr val="dk1"/>
                          </a:solidFill>
                          <a:effectLst/>
                          <a:latin typeface="+mn-lt"/>
                          <a:ea typeface="+mn-ea"/>
                          <a:cs typeface="+mn-cs"/>
                        </a:rPr>
                        <a:t>The process is isolated.</a:t>
                      </a:r>
                      <a:endParaRPr lang="en-US" dirty="0"/>
                    </a:p>
                  </a:txBody>
                  <a:tcPr/>
                </a:tc>
                <a:extLst>
                  <a:ext uri="{0D108BD9-81ED-4DB2-BD59-A6C34878D82A}">
                    <a16:rowId xmlns:a16="http://schemas.microsoft.com/office/drawing/2014/main" val="4101908630"/>
                  </a:ext>
                </a:extLst>
              </a:tr>
            </a:tbl>
          </a:graphicData>
        </a:graphic>
      </p:graphicFrame>
      <p:sp>
        <p:nvSpPr>
          <p:cNvPr id="5" name="Text Placeholder 4"/>
          <p:cNvSpPr>
            <a:spLocks noGrp="1"/>
          </p:cNvSpPr>
          <p:nvPr>
            <p:ph type="body" sz="quarter" idx="3"/>
          </p:nvPr>
        </p:nvSpPr>
        <p:spPr>
          <a:xfrm>
            <a:off x="6172200" y="1132115"/>
            <a:ext cx="5183188" cy="558573"/>
          </a:xfrm>
        </p:spPr>
        <p:txBody>
          <a:bodyPr>
            <a:normAutofit lnSpcReduction="10000"/>
          </a:bodyPr>
          <a:lstStyle/>
          <a:p>
            <a:r>
              <a:rPr lang="en-US" sz="3600" dirty="0" smtClean="0">
                <a:latin typeface="Times New Roman" panose="02020603050405020304" pitchFamily="18" charset="0"/>
                <a:cs typeface="Times New Roman" panose="02020603050405020304" pitchFamily="18" charset="0"/>
              </a:rPr>
              <a:t>thread</a:t>
            </a:r>
            <a:endParaRPr lang="en-US" sz="3600" dirty="0">
              <a:latin typeface="Times New Roman" panose="02020603050405020304" pitchFamily="18" charset="0"/>
              <a:cs typeface="Times New Roman" panose="02020603050405020304" pitchFamily="18" charset="0"/>
            </a:endParaRPr>
          </a:p>
        </p:txBody>
      </p:sp>
      <p:graphicFrame>
        <p:nvGraphicFramePr>
          <p:cNvPr id="8" name="Content Placeholder 7"/>
          <p:cNvGraphicFramePr>
            <a:graphicFrameLocks noGrp="1"/>
          </p:cNvGraphicFramePr>
          <p:nvPr>
            <p:ph sz="quarter" idx="4"/>
            <p:extLst>
              <p:ext uri="{D42A27DB-BD31-4B8C-83A1-F6EECF244321}">
                <p14:modId xmlns:p14="http://schemas.microsoft.com/office/powerpoint/2010/main" val="1639611362"/>
              </p:ext>
            </p:extLst>
          </p:nvPr>
        </p:nvGraphicFramePr>
        <p:xfrm>
          <a:off x="6172200" y="1690688"/>
          <a:ext cx="5183188" cy="3408680"/>
        </p:xfrm>
        <a:graphic>
          <a:graphicData uri="http://schemas.openxmlformats.org/drawingml/2006/table">
            <a:tbl>
              <a:tblPr firstRow="1" bandRow="1">
                <a:tableStyleId>{5C22544A-7EE6-4342-B048-85BDC9FD1C3A}</a:tableStyleId>
              </a:tblPr>
              <a:tblGrid>
                <a:gridCol w="344714">
                  <a:extLst>
                    <a:ext uri="{9D8B030D-6E8A-4147-A177-3AD203B41FA5}">
                      <a16:colId xmlns:a16="http://schemas.microsoft.com/office/drawing/2014/main" val="1241971454"/>
                    </a:ext>
                  </a:extLst>
                </a:gridCol>
                <a:gridCol w="4838474">
                  <a:extLst>
                    <a:ext uri="{9D8B030D-6E8A-4147-A177-3AD203B41FA5}">
                      <a16:colId xmlns:a16="http://schemas.microsoft.com/office/drawing/2014/main" val="60638823"/>
                    </a:ext>
                  </a:extLst>
                </a:gridCol>
              </a:tblGrid>
              <a:tr h="370840">
                <a:tc>
                  <a:txBody>
                    <a:bodyPr/>
                    <a:lstStyle/>
                    <a:p>
                      <a:r>
                        <a:rPr lang="en-US" dirty="0" smtClean="0"/>
                        <a:t>1</a:t>
                      </a:r>
                      <a:endParaRPr lang="en-US" dirty="0"/>
                    </a:p>
                  </a:txBody>
                  <a:tcPr/>
                </a:tc>
                <a:tc>
                  <a:txBody>
                    <a:bodyPr/>
                    <a:lstStyle/>
                    <a:p>
                      <a:r>
                        <a:rPr lang="en-US" sz="1800" b="0" i="0" kern="1200" dirty="0" smtClean="0">
                          <a:solidFill>
                            <a:schemeClr val="lt1"/>
                          </a:solidFill>
                          <a:effectLst/>
                          <a:latin typeface="+mn-lt"/>
                          <a:ea typeface="+mn-ea"/>
                          <a:cs typeface="+mn-cs"/>
                        </a:rPr>
                        <a:t>Thread means a segment of a process.</a:t>
                      </a:r>
                      <a:endParaRPr lang="en-US" dirty="0"/>
                    </a:p>
                  </a:txBody>
                  <a:tcPr/>
                </a:tc>
                <a:extLst>
                  <a:ext uri="{0D108BD9-81ED-4DB2-BD59-A6C34878D82A}">
                    <a16:rowId xmlns:a16="http://schemas.microsoft.com/office/drawing/2014/main" val="2140912274"/>
                  </a:ext>
                </a:extLst>
              </a:tr>
              <a:tr h="370840">
                <a:tc>
                  <a:txBody>
                    <a:bodyPr/>
                    <a:lstStyle/>
                    <a:p>
                      <a:r>
                        <a:rPr lang="en-US" dirty="0" smtClean="0"/>
                        <a:t>2</a:t>
                      </a:r>
                      <a:endParaRPr lang="en-US" dirty="0"/>
                    </a:p>
                  </a:txBody>
                  <a:tcPr/>
                </a:tc>
                <a:tc>
                  <a:txBody>
                    <a:bodyPr/>
                    <a:lstStyle/>
                    <a:p>
                      <a:r>
                        <a:rPr lang="en-US" sz="1800" b="0" i="0" kern="1200" dirty="0" smtClean="0">
                          <a:solidFill>
                            <a:schemeClr val="dk1"/>
                          </a:solidFill>
                          <a:effectLst/>
                          <a:latin typeface="+mn-lt"/>
                          <a:ea typeface="+mn-ea"/>
                          <a:cs typeface="+mn-cs"/>
                        </a:rPr>
                        <a:t>The thread takes less time to terminate.</a:t>
                      </a:r>
                      <a:endParaRPr lang="en-US" dirty="0"/>
                    </a:p>
                  </a:txBody>
                  <a:tcPr/>
                </a:tc>
                <a:extLst>
                  <a:ext uri="{0D108BD9-81ED-4DB2-BD59-A6C34878D82A}">
                    <a16:rowId xmlns:a16="http://schemas.microsoft.com/office/drawing/2014/main" val="1239679546"/>
                  </a:ext>
                </a:extLst>
              </a:tr>
              <a:tr h="370840">
                <a:tc>
                  <a:txBody>
                    <a:bodyPr/>
                    <a:lstStyle/>
                    <a:p>
                      <a:r>
                        <a:rPr lang="en-US" dirty="0" smtClean="0"/>
                        <a:t>3</a:t>
                      </a:r>
                      <a:endParaRPr lang="en-US" dirty="0"/>
                    </a:p>
                  </a:txBody>
                  <a:tcPr/>
                </a:tc>
                <a:tc>
                  <a:txBody>
                    <a:bodyPr/>
                    <a:lstStyle/>
                    <a:p>
                      <a:r>
                        <a:rPr lang="en-US" sz="1800" b="0" i="0" kern="1200" dirty="0" smtClean="0">
                          <a:solidFill>
                            <a:schemeClr val="dk1"/>
                          </a:solidFill>
                          <a:effectLst/>
                          <a:latin typeface="+mn-lt"/>
                          <a:ea typeface="+mn-ea"/>
                          <a:cs typeface="+mn-cs"/>
                        </a:rPr>
                        <a:t>It takes less time for creation.</a:t>
                      </a:r>
                      <a:endParaRPr lang="en-US" dirty="0"/>
                    </a:p>
                  </a:txBody>
                  <a:tcPr/>
                </a:tc>
                <a:extLst>
                  <a:ext uri="{0D108BD9-81ED-4DB2-BD59-A6C34878D82A}">
                    <a16:rowId xmlns:a16="http://schemas.microsoft.com/office/drawing/2014/main" val="1062787683"/>
                  </a:ext>
                </a:extLst>
              </a:tr>
              <a:tr h="370840">
                <a:tc>
                  <a:txBody>
                    <a:bodyPr/>
                    <a:lstStyle/>
                    <a:p>
                      <a:r>
                        <a:rPr lang="en-US" dirty="0" smtClean="0"/>
                        <a:t>4</a:t>
                      </a:r>
                      <a:endParaRPr lang="en-US" dirty="0"/>
                    </a:p>
                  </a:txBody>
                  <a:tcPr/>
                </a:tc>
                <a:tc>
                  <a:txBody>
                    <a:bodyPr/>
                    <a:lstStyle/>
                    <a:p>
                      <a:r>
                        <a:rPr lang="en-US" sz="1800" b="0" i="0" kern="1200" dirty="0" smtClean="0">
                          <a:solidFill>
                            <a:schemeClr val="dk1"/>
                          </a:solidFill>
                          <a:effectLst/>
                          <a:latin typeface="+mn-lt"/>
                          <a:ea typeface="+mn-ea"/>
                          <a:cs typeface="+mn-cs"/>
                        </a:rPr>
                        <a:t>It takes less time for context switching.</a:t>
                      </a:r>
                      <a:endParaRPr lang="en-US" dirty="0"/>
                    </a:p>
                  </a:txBody>
                  <a:tcPr/>
                </a:tc>
                <a:extLst>
                  <a:ext uri="{0D108BD9-81ED-4DB2-BD59-A6C34878D82A}">
                    <a16:rowId xmlns:a16="http://schemas.microsoft.com/office/drawing/2014/main" val="2323269674"/>
                  </a:ext>
                </a:extLst>
              </a:tr>
              <a:tr h="370840">
                <a:tc>
                  <a:txBody>
                    <a:bodyPr/>
                    <a:lstStyle/>
                    <a:p>
                      <a:r>
                        <a:rPr lang="en-US" dirty="0" smtClean="0"/>
                        <a:t>5</a:t>
                      </a:r>
                      <a:endParaRPr lang="en-US" dirty="0"/>
                    </a:p>
                  </a:txBody>
                  <a:tcPr/>
                </a:tc>
                <a:tc>
                  <a:txBody>
                    <a:bodyPr/>
                    <a:lstStyle/>
                    <a:p>
                      <a:r>
                        <a:rPr lang="en-US" sz="1800" b="0" i="0" kern="1200" dirty="0" smtClean="0">
                          <a:solidFill>
                            <a:schemeClr val="dk1"/>
                          </a:solidFill>
                          <a:effectLst/>
                          <a:latin typeface="+mn-lt"/>
                          <a:ea typeface="+mn-ea"/>
                          <a:cs typeface="+mn-cs"/>
                        </a:rPr>
                        <a:t>Thread is more efficient in terms of communication.</a:t>
                      </a:r>
                      <a:endParaRPr lang="en-US" dirty="0"/>
                    </a:p>
                  </a:txBody>
                  <a:tcPr/>
                </a:tc>
                <a:extLst>
                  <a:ext uri="{0D108BD9-81ED-4DB2-BD59-A6C34878D82A}">
                    <a16:rowId xmlns:a16="http://schemas.microsoft.com/office/drawing/2014/main" val="1299299117"/>
                  </a:ext>
                </a:extLst>
              </a:tr>
              <a:tr h="370840">
                <a:tc>
                  <a:txBody>
                    <a:bodyPr/>
                    <a:lstStyle/>
                    <a:p>
                      <a:r>
                        <a:rPr lang="en-US" dirty="0" smtClean="0"/>
                        <a:t>6</a:t>
                      </a:r>
                      <a:endParaRPr lang="en-US" dirty="0"/>
                    </a:p>
                  </a:txBody>
                  <a:tcPr/>
                </a:tc>
                <a:tc>
                  <a:txBody>
                    <a:bodyPr/>
                    <a:lstStyle/>
                    <a:p>
                      <a:r>
                        <a:rPr lang="en-US" sz="1800" b="0" i="0" kern="1200" dirty="0" smtClean="0">
                          <a:solidFill>
                            <a:schemeClr val="dk1"/>
                          </a:solidFill>
                          <a:effectLst/>
                          <a:latin typeface="+mn-lt"/>
                          <a:ea typeface="+mn-ea"/>
                          <a:cs typeface="+mn-cs"/>
                        </a:rPr>
                        <a:t>We don’t need multi programs in action for multiple threads because a single process consists of multiple threads.</a:t>
                      </a:r>
                      <a:endParaRPr lang="en-US" dirty="0"/>
                    </a:p>
                  </a:txBody>
                  <a:tcPr/>
                </a:tc>
                <a:extLst>
                  <a:ext uri="{0D108BD9-81ED-4DB2-BD59-A6C34878D82A}">
                    <a16:rowId xmlns:a16="http://schemas.microsoft.com/office/drawing/2014/main" val="898729456"/>
                  </a:ext>
                </a:extLst>
              </a:tr>
              <a:tr h="370840">
                <a:tc>
                  <a:txBody>
                    <a:bodyPr/>
                    <a:lstStyle/>
                    <a:p>
                      <a:r>
                        <a:rPr lang="en-US" dirty="0" smtClean="0"/>
                        <a:t>7</a:t>
                      </a:r>
                      <a:endParaRPr lang="en-US" dirty="0"/>
                    </a:p>
                  </a:txBody>
                  <a:tcPr/>
                </a:tc>
                <a:tc>
                  <a:txBody>
                    <a:bodyPr/>
                    <a:lstStyle/>
                    <a:p>
                      <a:r>
                        <a:rPr lang="en-US" sz="1800" b="0" i="0" kern="1200" dirty="0" smtClean="0">
                          <a:solidFill>
                            <a:schemeClr val="dk1"/>
                          </a:solidFill>
                          <a:effectLst/>
                          <a:latin typeface="+mn-lt"/>
                          <a:ea typeface="+mn-ea"/>
                          <a:cs typeface="+mn-cs"/>
                        </a:rPr>
                        <a:t>Threads share memory.</a:t>
                      </a:r>
                      <a:endParaRPr lang="en-US" dirty="0"/>
                    </a:p>
                  </a:txBody>
                  <a:tcPr/>
                </a:tc>
                <a:extLst>
                  <a:ext uri="{0D108BD9-81ED-4DB2-BD59-A6C34878D82A}">
                    <a16:rowId xmlns:a16="http://schemas.microsoft.com/office/drawing/2014/main" val="426083005"/>
                  </a:ext>
                </a:extLst>
              </a:tr>
            </a:tbl>
          </a:graphicData>
        </a:graphic>
      </p:graphicFrame>
    </p:spTree>
    <p:extLst>
      <p:ext uri="{BB962C8B-B14F-4D97-AF65-F5344CB8AC3E}">
        <p14:creationId xmlns:p14="http://schemas.microsoft.com/office/powerpoint/2010/main" val="2701033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7599" y="57618"/>
            <a:ext cx="10798629" cy="6740307"/>
          </a:xfrm>
          <a:prstGeom prst="rect">
            <a:avLst/>
          </a:prstGeom>
        </p:spPr>
        <p:txBody>
          <a:bodyPr wrap="square">
            <a:spAutoFit/>
          </a:bodyPr>
          <a:lstStyle/>
          <a:p>
            <a:pPr fontAlgn="base"/>
            <a:r>
              <a:rPr lang="en-US" sz="2400" b="1" i="0" u="sng" dirty="0" smtClean="0">
                <a:solidFill>
                  <a:srgbClr val="273239"/>
                </a:solidFill>
                <a:effectLst/>
                <a:latin typeface="Times New Roman" panose="02020603050405020304" pitchFamily="18" charset="0"/>
                <a:cs typeface="Times New Roman" panose="02020603050405020304" pitchFamily="18" charset="0"/>
              </a:rPr>
              <a:t>Advantages of Thread</a:t>
            </a:r>
          </a:p>
          <a:p>
            <a:pPr fontAlgn="base">
              <a:buFont typeface="Arial" panose="020B0604020202020204" pitchFamily="34" charset="0"/>
              <a:buChar char="•"/>
            </a:pPr>
            <a:r>
              <a:rPr lang="en-US" sz="2400" b="1" i="0" dirty="0" smtClean="0">
                <a:solidFill>
                  <a:srgbClr val="273239"/>
                </a:solidFill>
                <a:effectLst/>
                <a:latin typeface="Times New Roman" panose="02020603050405020304" pitchFamily="18" charset="0"/>
                <a:cs typeface="Times New Roman" panose="02020603050405020304" pitchFamily="18" charset="0"/>
              </a:rPr>
              <a:t>Responsiveness</a:t>
            </a:r>
            <a:r>
              <a:rPr lang="en-US" sz="2400" b="1" i="1" dirty="0" smtClean="0">
                <a:solidFill>
                  <a:srgbClr val="273239"/>
                </a:solidFill>
                <a:effectLst/>
                <a:latin typeface="Times New Roman" panose="02020603050405020304" pitchFamily="18" charset="0"/>
                <a:cs typeface="Times New Roman" panose="02020603050405020304" pitchFamily="18" charset="0"/>
              </a:rPr>
              <a:t>: </a:t>
            </a:r>
            <a:r>
              <a:rPr lang="en-US" sz="2400" b="0" i="0" dirty="0" smtClean="0">
                <a:solidFill>
                  <a:srgbClr val="273239"/>
                </a:solidFill>
                <a:effectLst/>
                <a:latin typeface="Times New Roman" panose="02020603050405020304" pitchFamily="18" charset="0"/>
                <a:cs typeface="Times New Roman" panose="02020603050405020304" pitchFamily="18" charset="0"/>
              </a:rPr>
              <a:t>If the process is divided into multiple threads, if one thread completes its execution, then its output can be immediately returned.</a:t>
            </a:r>
          </a:p>
          <a:p>
            <a:pPr fontAlgn="base">
              <a:buFont typeface="Arial" panose="020B0604020202020204" pitchFamily="34" charset="0"/>
              <a:buChar char="•"/>
            </a:pPr>
            <a:r>
              <a:rPr lang="en-US" sz="2400" b="1" i="0" dirty="0" smtClean="0">
                <a:solidFill>
                  <a:srgbClr val="273239"/>
                </a:solidFill>
                <a:effectLst/>
                <a:latin typeface="Times New Roman" panose="02020603050405020304" pitchFamily="18" charset="0"/>
                <a:cs typeface="Times New Roman" panose="02020603050405020304" pitchFamily="18" charset="0"/>
              </a:rPr>
              <a:t>Faster context switch</a:t>
            </a:r>
            <a:r>
              <a:rPr lang="en-US" sz="2400" b="1" i="1" dirty="0" smtClean="0">
                <a:solidFill>
                  <a:srgbClr val="273239"/>
                </a:solidFill>
                <a:effectLst/>
                <a:latin typeface="Times New Roman" panose="02020603050405020304" pitchFamily="18" charset="0"/>
                <a:cs typeface="Times New Roman" panose="02020603050405020304" pitchFamily="18" charset="0"/>
              </a:rPr>
              <a:t>:</a:t>
            </a:r>
            <a:r>
              <a:rPr lang="en-US" sz="2400" b="0" i="1" dirty="0" smtClean="0">
                <a:solidFill>
                  <a:srgbClr val="273239"/>
                </a:solidFill>
                <a:effectLst/>
                <a:latin typeface="Times New Roman" panose="02020603050405020304" pitchFamily="18" charset="0"/>
                <a:cs typeface="Times New Roman" panose="02020603050405020304" pitchFamily="18" charset="0"/>
              </a:rPr>
              <a:t> </a:t>
            </a:r>
            <a:r>
              <a:rPr lang="en-US" sz="2400" b="0" i="0" dirty="0" smtClean="0">
                <a:solidFill>
                  <a:srgbClr val="273239"/>
                </a:solidFill>
                <a:effectLst/>
                <a:latin typeface="Times New Roman" panose="02020603050405020304" pitchFamily="18" charset="0"/>
                <a:cs typeface="Times New Roman" panose="02020603050405020304" pitchFamily="18" charset="0"/>
              </a:rPr>
              <a:t>Context switch time between threads is lower compared to the process context switch. Process context switching requires more overhead from the CPU. </a:t>
            </a:r>
          </a:p>
          <a:p>
            <a:pPr fontAlgn="base">
              <a:buFont typeface="Arial" panose="020B0604020202020204" pitchFamily="34" charset="0"/>
              <a:buChar char="•"/>
            </a:pPr>
            <a:r>
              <a:rPr lang="en-US" sz="2400" b="1" i="0" dirty="0" smtClean="0">
                <a:solidFill>
                  <a:srgbClr val="273239"/>
                </a:solidFill>
                <a:effectLst/>
                <a:latin typeface="Times New Roman" panose="02020603050405020304" pitchFamily="18" charset="0"/>
                <a:cs typeface="Times New Roman" panose="02020603050405020304" pitchFamily="18" charset="0"/>
              </a:rPr>
              <a:t>Effective utilization of multiprocessor system</a:t>
            </a:r>
            <a:r>
              <a:rPr lang="en-US" sz="2400" b="1" i="1" dirty="0" smtClean="0">
                <a:solidFill>
                  <a:srgbClr val="273239"/>
                </a:solidFill>
                <a:effectLst/>
                <a:latin typeface="Times New Roman" panose="02020603050405020304" pitchFamily="18" charset="0"/>
                <a:cs typeface="Times New Roman" panose="02020603050405020304" pitchFamily="18" charset="0"/>
              </a:rPr>
              <a:t>:</a:t>
            </a:r>
            <a:r>
              <a:rPr lang="en-US" sz="2400" b="0" i="1" dirty="0" smtClean="0">
                <a:solidFill>
                  <a:srgbClr val="273239"/>
                </a:solidFill>
                <a:effectLst/>
                <a:latin typeface="Times New Roman" panose="02020603050405020304" pitchFamily="18" charset="0"/>
                <a:cs typeface="Times New Roman" panose="02020603050405020304" pitchFamily="18" charset="0"/>
              </a:rPr>
              <a:t> </a:t>
            </a:r>
            <a:r>
              <a:rPr lang="en-US" sz="2400" b="0" i="0" dirty="0" smtClean="0">
                <a:solidFill>
                  <a:srgbClr val="273239"/>
                </a:solidFill>
                <a:effectLst/>
                <a:latin typeface="Times New Roman" panose="02020603050405020304" pitchFamily="18" charset="0"/>
                <a:cs typeface="Times New Roman" panose="02020603050405020304" pitchFamily="18" charset="0"/>
              </a:rPr>
              <a:t>If we have multiple threads in a single process, then we can schedule multiple threads on multiple processors. This will make process execution faster. </a:t>
            </a:r>
          </a:p>
          <a:p>
            <a:pPr fontAlgn="base">
              <a:buFont typeface="Arial" panose="020B0604020202020204" pitchFamily="34" charset="0"/>
              <a:buChar char="•"/>
            </a:pPr>
            <a:r>
              <a:rPr lang="en-US" sz="2400" b="1" i="0" dirty="0" smtClean="0">
                <a:solidFill>
                  <a:srgbClr val="273239"/>
                </a:solidFill>
                <a:effectLst/>
                <a:latin typeface="Times New Roman" panose="02020603050405020304" pitchFamily="18" charset="0"/>
                <a:cs typeface="Times New Roman" panose="02020603050405020304" pitchFamily="18" charset="0"/>
              </a:rPr>
              <a:t>Resource sharing</a:t>
            </a:r>
            <a:r>
              <a:rPr lang="en-US" sz="2400" b="1" i="1" dirty="0" smtClean="0">
                <a:solidFill>
                  <a:srgbClr val="273239"/>
                </a:solidFill>
                <a:effectLst/>
                <a:latin typeface="Times New Roman" panose="02020603050405020304" pitchFamily="18" charset="0"/>
                <a:cs typeface="Times New Roman" panose="02020603050405020304" pitchFamily="18" charset="0"/>
              </a:rPr>
              <a:t>: </a:t>
            </a:r>
            <a:r>
              <a:rPr lang="en-US" sz="2400" b="0" i="0" dirty="0" smtClean="0">
                <a:solidFill>
                  <a:srgbClr val="273239"/>
                </a:solidFill>
                <a:effectLst/>
                <a:latin typeface="Times New Roman" panose="02020603050405020304" pitchFamily="18" charset="0"/>
                <a:cs typeface="Times New Roman" panose="02020603050405020304" pitchFamily="18" charset="0"/>
              </a:rPr>
              <a:t>Resources like code, data, and files can be shared among all threads within a process. Note: Stacks and registers can’t be shared among the threads. Each thread has its own stack and registers. </a:t>
            </a:r>
          </a:p>
          <a:p>
            <a:pPr fontAlgn="base">
              <a:buFont typeface="Arial" panose="020B0604020202020204" pitchFamily="34" charset="0"/>
              <a:buChar char="•"/>
            </a:pPr>
            <a:r>
              <a:rPr lang="en-US" sz="2400" b="1" i="0" dirty="0" smtClean="0">
                <a:solidFill>
                  <a:srgbClr val="273239"/>
                </a:solidFill>
                <a:effectLst/>
                <a:latin typeface="Times New Roman" panose="02020603050405020304" pitchFamily="18" charset="0"/>
                <a:cs typeface="Times New Roman" panose="02020603050405020304" pitchFamily="18" charset="0"/>
              </a:rPr>
              <a:t>Communication</a:t>
            </a:r>
            <a:r>
              <a:rPr lang="en-US" sz="2400" b="1" i="1" dirty="0" smtClean="0">
                <a:solidFill>
                  <a:srgbClr val="273239"/>
                </a:solidFill>
                <a:effectLst/>
                <a:latin typeface="Times New Roman" panose="02020603050405020304" pitchFamily="18" charset="0"/>
                <a:cs typeface="Times New Roman" panose="02020603050405020304" pitchFamily="18" charset="0"/>
              </a:rPr>
              <a:t>:</a:t>
            </a:r>
            <a:r>
              <a:rPr lang="en-US" sz="2400" b="0" i="1" dirty="0" smtClean="0">
                <a:solidFill>
                  <a:srgbClr val="273239"/>
                </a:solidFill>
                <a:effectLst/>
                <a:latin typeface="Times New Roman" panose="02020603050405020304" pitchFamily="18" charset="0"/>
                <a:cs typeface="Times New Roman" panose="02020603050405020304" pitchFamily="18" charset="0"/>
              </a:rPr>
              <a:t> </a:t>
            </a:r>
            <a:r>
              <a:rPr lang="en-US" sz="2400" b="0" i="0" dirty="0" smtClean="0">
                <a:solidFill>
                  <a:srgbClr val="273239"/>
                </a:solidFill>
                <a:effectLst/>
                <a:latin typeface="Times New Roman" panose="02020603050405020304" pitchFamily="18" charset="0"/>
                <a:cs typeface="Times New Roman" panose="02020603050405020304" pitchFamily="18" charset="0"/>
              </a:rPr>
              <a:t>Communication between multiple threads is easier, as the threads share a common address space. while in the process we have to follow some specific communication techniques for communication between the two processes. </a:t>
            </a:r>
          </a:p>
          <a:p>
            <a:pPr fontAlgn="base">
              <a:buFont typeface="Arial" panose="020B0604020202020204" pitchFamily="34" charset="0"/>
              <a:buChar char="•"/>
            </a:pPr>
            <a:r>
              <a:rPr lang="en-US" sz="2400" b="1" i="0" dirty="0" smtClean="0">
                <a:solidFill>
                  <a:srgbClr val="273239"/>
                </a:solidFill>
                <a:effectLst/>
                <a:latin typeface="Times New Roman" panose="02020603050405020304" pitchFamily="18" charset="0"/>
                <a:cs typeface="Times New Roman" panose="02020603050405020304" pitchFamily="18" charset="0"/>
              </a:rPr>
              <a:t>Enhanced throughput of the system</a:t>
            </a:r>
            <a:r>
              <a:rPr lang="en-US" sz="2400" b="1" i="1" dirty="0" smtClean="0">
                <a:solidFill>
                  <a:srgbClr val="273239"/>
                </a:solidFill>
                <a:effectLst/>
                <a:latin typeface="Times New Roman" panose="02020603050405020304" pitchFamily="18" charset="0"/>
                <a:cs typeface="Times New Roman" panose="02020603050405020304" pitchFamily="18" charset="0"/>
              </a:rPr>
              <a:t>: </a:t>
            </a:r>
            <a:r>
              <a:rPr lang="en-US" sz="2400" b="0" i="0" dirty="0" smtClean="0">
                <a:solidFill>
                  <a:srgbClr val="273239"/>
                </a:solidFill>
                <a:effectLst/>
                <a:latin typeface="Times New Roman" panose="02020603050405020304" pitchFamily="18" charset="0"/>
                <a:cs typeface="Times New Roman" panose="02020603050405020304" pitchFamily="18" charset="0"/>
              </a:rPr>
              <a:t>If a process is divided into multiple threads, and each thread function is considered as one job, then the number of jobs completed per unit of time is increased, thus increasing the throughput of the system</a:t>
            </a:r>
            <a:r>
              <a:rPr lang="en-US" b="0" i="0" dirty="0" smtClean="0">
                <a:solidFill>
                  <a:srgbClr val="273239"/>
                </a:solidFill>
                <a:effectLst/>
                <a:latin typeface="Nunito"/>
              </a:rPr>
              <a:t>. </a:t>
            </a:r>
            <a:endParaRPr lang="en-US" b="0" i="0" dirty="0">
              <a:solidFill>
                <a:srgbClr val="273239"/>
              </a:solidFill>
              <a:effectLst/>
              <a:latin typeface="Nunito"/>
            </a:endParaRPr>
          </a:p>
        </p:txBody>
      </p:sp>
    </p:spTree>
    <p:extLst>
      <p:ext uri="{BB962C8B-B14F-4D97-AF65-F5344CB8AC3E}">
        <p14:creationId xmlns:p14="http://schemas.microsoft.com/office/powerpoint/2010/main" val="2550351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1045" y="283029"/>
            <a:ext cx="3932237" cy="979714"/>
          </a:xfrm>
        </p:spPr>
        <p:txBody>
          <a:bodyPr/>
          <a:lstStyle/>
          <a:p>
            <a:r>
              <a:rPr lang="en-US" b="1" dirty="0"/>
              <a:t>Types of Threads </a:t>
            </a:r>
            <a:br>
              <a:rPr lang="en-US" b="1" dirty="0"/>
            </a:br>
            <a:endParaRPr lang="en-US" dirty="0"/>
          </a:p>
        </p:txBody>
      </p:sp>
      <p:sp>
        <p:nvSpPr>
          <p:cNvPr id="4" name="Text Placeholder 3"/>
          <p:cNvSpPr>
            <a:spLocks noGrp="1"/>
          </p:cNvSpPr>
          <p:nvPr>
            <p:ph type="body" sz="half" idx="2"/>
          </p:nvPr>
        </p:nvSpPr>
        <p:spPr>
          <a:xfrm>
            <a:off x="3423331" y="1436914"/>
            <a:ext cx="5256212" cy="4257902"/>
          </a:xfrm>
        </p:spPr>
        <p:txBody>
          <a:bodyPr>
            <a:normAutofit/>
          </a:bodyPr>
          <a:lstStyle/>
          <a:p>
            <a:pPr fontAlgn="base"/>
            <a:r>
              <a:rPr lang="en-US" sz="3600" dirty="0">
                <a:latin typeface="Times New Roman" panose="02020603050405020304" pitchFamily="18" charset="0"/>
                <a:cs typeface="Times New Roman" panose="02020603050405020304" pitchFamily="18" charset="0"/>
              </a:rPr>
              <a:t>Threads are of two types. These are described below.</a:t>
            </a:r>
          </a:p>
          <a:p>
            <a:pPr marL="342900" indent="-342900" fontAlgn="base">
              <a:buFont typeface="+mj-lt"/>
              <a:buAutoNum type="arabicPeriod"/>
            </a:pPr>
            <a:r>
              <a:rPr lang="en-US" sz="3600" u="sng" dirty="0">
                <a:latin typeface="Times New Roman" panose="02020603050405020304" pitchFamily="18" charset="0"/>
                <a:cs typeface="Times New Roman" panose="02020603050405020304" pitchFamily="18" charset="0"/>
                <a:hlinkClick r:id="rId2"/>
              </a:rPr>
              <a:t>User Level Thread </a:t>
            </a:r>
            <a:endParaRPr lang="en-US" sz="3600" dirty="0">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US" sz="3600" u="sng" dirty="0">
                <a:latin typeface="Times New Roman" panose="02020603050405020304" pitchFamily="18" charset="0"/>
                <a:cs typeface="Times New Roman" panose="02020603050405020304" pitchFamily="18" charset="0"/>
                <a:hlinkClick r:id="rId3"/>
              </a:rPr>
              <a:t>Kernel Level Thread</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22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9572" y="159657"/>
            <a:ext cx="4822371" cy="1175657"/>
          </a:xfrm>
        </p:spPr>
        <p:txBody>
          <a:bodyPr>
            <a:normAutofit fontScale="90000"/>
          </a:bodyPr>
          <a:lstStyle/>
          <a:p>
            <a:r>
              <a:rPr lang="en-US" b="1" dirty="0" smtClean="0"/>
              <a:t>User Level Threads</a:t>
            </a:r>
            <a:br>
              <a:rPr lang="en-US" b="1" dirty="0" smtClean="0"/>
            </a:br>
            <a:endParaRPr lang="en-US" dirty="0"/>
          </a:p>
        </p:txBody>
      </p:sp>
      <p:sp>
        <p:nvSpPr>
          <p:cNvPr id="3" name="Content Placeholder 2"/>
          <p:cNvSpPr>
            <a:spLocks noGrp="1"/>
          </p:cNvSpPr>
          <p:nvPr>
            <p:ph idx="1"/>
          </p:nvPr>
        </p:nvSpPr>
        <p:spPr>
          <a:xfrm>
            <a:off x="653142" y="827314"/>
            <a:ext cx="10497457" cy="5239657"/>
          </a:xfrm>
        </p:spPr>
        <p:txBody>
          <a:bodyPr>
            <a:normAutofit/>
          </a:bodyPr>
          <a:lstStyle/>
          <a:p>
            <a:pPr fontAlgn="base">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User </a:t>
            </a:r>
            <a:r>
              <a:rPr lang="en-US" sz="2000" dirty="0">
                <a:latin typeface="Times New Roman" panose="02020603050405020304" pitchFamily="18" charset="0"/>
                <a:cs typeface="Times New Roman" panose="02020603050405020304" pitchFamily="18" charset="0"/>
              </a:rPr>
              <a:t>Level Thread is a type of thread that is not created using system calls. The kernel has no work in the management of user-level threads. User-level threads can be easily implemented by the user</a:t>
            </a:r>
            <a:r>
              <a:rPr lang="en-US" sz="2000" dirty="0" smtClean="0">
                <a:latin typeface="Times New Roman" panose="02020603050405020304" pitchFamily="18" charset="0"/>
                <a:cs typeface="Times New Roman" panose="02020603050405020304" pitchFamily="18" charset="0"/>
              </a:rPr>
              <a:t>.</a:t>
            </a:r>
          </a:p>
          <a:p>
            <a:pPr fontAlgn="base">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case when user-level threads are single-handed processes, kernel-level thread manages them. Let’s look at the advantages and disadvantages of User-Level Thread.</a:t>
            </a:r>
          </a:p>
          <a:p>
            <a:pPr marL="0" indent="0" algn="ctr" fontAlgn="base">
              <a:buNone/>
            </a:pPr>
            <a:r>
              <a:rPr lang="en-US" sz="2000" b="1" u="sng" dirty="0">
                <a:latin typeface="Times New Roman" panose="02020603050405020304" pitchFamily="18" charset="0"/>
                <a:cs typeface="Times New Roman" panose="02020603050405020304" pitchFamily="18" charset="0"/>
              </a:rPr>
              <a:t>Advantages of User-Level Threads</a:t>
            </a:r>
          </a:p>
          <a:p>
            <a:pPr fontAlgn="base"/>
            <a:r>
              <a:rPr lang="en-US" sz="2000" dirty="0">
                <a:latin typeface="Times New Roman" panose="02020603050405020304" pitchFamily="18" charset="0"/>
                <a:cs typeface="Times New Roman" panose="02020603050405020304" pitchFamily="18" charset="0"/>
              </a:rPr>
              <a:t>Implementation of the User-Level Thread is easier than Kernel Level Thread.</a:t>
            </a:r>
          </a:p>
          <a:p>
            <a:pPr fontAlgn="base"/>
            <a:r>
              <a:rPr lang="en-US" sz="2000" u="sng" dirty="0">
                <a:latin typeface="Times New Roman" panose="02020603050405020304" pitchFamily="18" charset="0"/>
                <a:cs typeface="Times New Roman" panose="02020603050405020304" pitchFamily="18" charset="0"/>
                <a:hlinkClick r:id="rId2"/>
              </a:rPr>
              <a:t>Context Switch</a:t>
            </a:r>
            <a:r>
              <a:rPr lang="en-US" sz="2000" dirty="0">
                <a:latin typeface="Times New Roman" panose="02020603050405020304" pitchFamily="18" charset="0"/>
                <a:cs typeface="Times New Roman" panose="02020603050405020304" pitchFamily="18" charset="0"/>
              </a:rPr>
              <a:t> Time is less in User Level Thread.</a:t>
            </a:r>
          </a:p>
          <a:p>
            <a:pPr fontAlgn="base"/>
            <a:r>
              <a:rPr lang="en-US" sz="2000" dirty="0">
                <a:latin typeface="Times New Roman" panose="02020603050405020304" pitchFamily="18" charset="0"/>
                <a:cs typeface="Times New Roman" panose="02020603050405020304" pitchFamily="18" charset="0"/>
              </a:rPr>
              <a:t>User-Level Thread is more efficient than Kernel-Level Thread.</a:t>
            </a:r>
          </a:p>
          <a:p>
            <a:pPr fontAlgn="base"/>
            <a:r>
              <a:rPr lang="en-US" sz="2000" dirty="0">
                <a:latin typeface="Times New Roman" panose="02020603050405020304" pitchFamily="18" charset="0"/>
                <a:cs typeface="Times New Roman" panose="02020603050405020304" pitchFamily="18" charset="0"/>
              </a:rPr>
              <a:t>Because of the presence of only Program Counter, Register Set, and Stack Space, it has a simple representation.</a:t>
            </a:r>
          </a:p>
          <a:p>
            <a:pPr marL="0" indent="0" algn="ctr" fontAlgn="base">
              <a:buNone/>
            </a:pPr>
            <a:r>
              <a:rPr lang="en-US" sz="2000" b="1" u="sng" dirty="0">
                <a:latin typeface="Times New Roman" panose="02020603050405020304" pitchFamily="18" charset="0"/>
                <a:cs typeface="Times New Roman" panose="02020603050405020304" pitchFamily="18" charset="0"/>
              </a:rPr>
              <a:t>Disadvantages of User-Level Threads</a:t>
            </a:r>
            <a:endParaRPr lang="en-US" sz="2000" u="sng"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There is a lack of coordination between Thread and Kernel.</a:t>
            </a:r>
          </a:p>
          <a:p>
            <a:pPr fontAlgn="base"/>
            <a:r>
              <a:rPr lang="en-US" sz="2000" dirty="0" smtClean="0">
                <a:latin typeface="Times New Roman" panose="02020603050405020304" pitchFamily="18" charset="0"/>
                <a:cs typeface="Times New Roman" panose="02020603050405020304" pitchFamily="18" charset="0"/>
              </a:rPr>
              <a:t>In case </a:t>
            </a:r>
            <a:r>
              <a:rPr lang="en-US" sz="2000" dirty="0">
                <a:latin typeface="Times New Roman" panose="02020603050405020304" pitchFamily="18" charset="0"/>
                <a:cs typeface="Times New Roman" panose="02020603050405020304" pitchFamily="18" charset="0"/>
              </a:rPr>
              <a:t>of a page fault, the whole process can be blocked.</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106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5214" y="116114"/>
            <a:ext cx="6041571" cy="1161143"/>
          </a:xfrm>
        </p:spPr>
        <p:txBody>
          <a:bodyPr>
            <a:normAutofit fontScale="90000"/>
          </a:bodyPr>
          <a:lstStyle/>
          <a:p>
            <a:r>
              <a:rPr lang="en-US" b="1" dirty="0" smtClean="0"/>
              <a:t>Kernel Level Threads</a:t>
            </a:r>
            <a:br>
              <a:rPr lang="en-US" b="1" dirty="0" smtClean="0"/>
            </a:br>
            <a:endParaRPr lang="en-US" dirty="0"/>
          </a:p>
        </p:txBody>
      </p:sp>
      <p:sp>
        <p:nvSpPr>
          <p:cNvPr id="3" name="Content Placeholder 2"/>
          <p:cNvSpPr>
            <a:spLocks noGrp="1"/>
          </p:cNvSpPr>
          <p:nvPr>
            <p:ph idx="1"/>
          </p:nvPr>
        </p:nvSpPr>
        <p:spPr>
          <a:xfrm>
            <a:off x="838199" y="798286"/>
            <a:ext cx="11078029" cy="5660571"/>
          </a:xfrm>
        </p:spPr>
        <p:txBody>
          <a:bodyPr>
            <a:normAutofit/>
          </a:bodyPr>
          <a:lstStyle/>
          <a:p>
            <a:pPr fontAlgn="base">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kernel Level Thread is a type of thread that can recognize the Operating system easily. Kernel Level Threads has its own thread table where it keeps track of the system. </a:t>
            </a:r>
            <a:endParaRPr lang="en-US" sz="2400" dirty="0" smtClean="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operating System Kernel helps in managing threads. Kernel Threads have somehow longer context switching time. Kernel helps in the management of threads.</a:t>
            </a:r>
          </a:p>
          <a:p>
            <a:pPr marL="0" indent="0" algn="ctr" fontAlgn="base">
              <a:buNone/>
            </a:pPr>
            <a:r>
              <a:rPr lang="en-US" sz="2400" b="1" u="sng" dirty="0">
                <a:latin typeface="Times New Roman" panose="02020603050405020304" pitchFamily="18" charset="0"/>
                <a:cs typeface="Times New Roman" panose="02020603050405020304" pitchFamily="18" charset="0"/>
              </a:rPr>
              <a:t>Advantages of Kernel-Level Threads</a:t>
            </a:r>
            <a:endParaRPr lang="en-US" sz="2400" u="sng"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It has up-to-date information on all threads.</a:t>
            </a:r>
          </a:p>
          <a:p>
            <a:pPr fontAlgn="base"/>
            <a:r>
              <a:rPr lang="en-US" sz="2400" dirty="0">
                <a:latin typeface="Times New Roman" panose="02020603050405020304" pitchFamily="18" charset="0"/>
                <a:cs typeface="Times New Roman" panose="02020603050405020304" pitchFamily="18" charset="0"/>
              </a:rPr>
              <a:t>Applications that block frequency are to be handled by the Kernel-Level Threads.</a:t>
            </a:r>
          </a:p>
          <a:p>
            <a:pPr fontAlgn="base"/>
            <a:r>
              <a:rPr lang="en-US" sz="2400" dirty="0">
                <a:latin typeface="Times New Roman" panose="02020603050405020304" pitchFamily="18" charset="0"/>
                <a:cs typeface="Times New Roman" panose="02020603050405020304" pitchFamily="18" charset="0"/>
              </a:rPr>
              <a:t>Whenever any process requires more time to process, Kernel-Level Thread provides more time to it.</a:t>
            </a:r>
          </a:p>
          <a:p>
            <a:pPr marL="0" indent="0" algn="ctr" fontAlgn="base">
              <a:buNone/>
            </a:pPr>
            <a:r>
              <a:rPr lang="en-US" sz="2400" b="1" u="sng" dirty="0">
                <a:latin typeface="Times New Roman" panose="02020603050405020304" pitchFamily="18" charset="0"/>
                <a:cs typeface="Times New Roman" panose="02020603050405020304" pitchFamily="18" charset="0"/>
              </a:rPr>
              <a:t>Disadvantages of Kernel-Level threads</a:t>
            </a:r>
            <a:endParaRPr lang="en-US" sz="2400" u="sng"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Kernel-Level Thread is slower than User-Level Thread.</a:t>
            </a:r>
          </a:p>
          <a:p>
            <a:pPr fontAlgn="base"/>
            <a:r>
              <a:rPr lang="en-US" sz="2400" dirty="0">
                <a:latin typeface="Times New Roman" panose="02020603050405020304" pitchFamily="18" charset="0"/>
                <a:cs typeface="Times New Roman" panose="02020603050405020304" pitchFamily="18" charset="0"/>
              </a:rPr>
              <a:t>Implementation of this type of thread is a little more complex than a user-level thread.</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4037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1933</Words>
  <Application>Microsoft Office PowerPoint</Application>
  <PresentationFormat>Widescreen</PresentationFormat>
  <Paragraphs>360</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Calibri Light</vt:lpstr>
      <vt:lpstr>Consolas</vt:lpstr>
      <vt:lpstr>ff2</vt:lpstr>
      <vt:lpstr>Nunito</vt:lpstr>
      <vt:lpstr>Times New Roman</vt:lpstr>
      <vt:lpstr>Wingdings</vt:lpstr>
      <vt:lpstr>Office Theme</vt:lpstr>
      <vt:lpstr>Bakery Algorithm in os</vt:lpstr>
      <vt:lpstr>PowerPoint Presentation</vt:lpstr>
      <vt:lpstr>PowerPoint Presentation</vt:lpstr>
      <vt:lpstr>PowerPoint Presentation</vt:lpstr>
      <vt:lpstr>PowerPoint Presentation</vt:lpstr>
      <vt:lpstr>PowerPoint Presentation</vt:lpstr>
      <vt:lpstr>Thread pool</vt:lpstr>
      <vt:lpstr>PowerPoint Presentation</vt:lpstr>
      <vt:lpstr>PowerPoint Presentation</vt:lpstr>
      <vt:lpstr> SYNCHRONIZATION HARDWARE</vt:lpstr>
      <vt:lpstr>PowerPoint Presentation</vt:lpstr>
      <vt:lpstr>PowerPoint Presentation</vt:lpstr>
      <vt:lpstr> TestAndSet Hardware Instruction</vt:lpstr>
      <vt:lpstr>PowerPoint Presentation</vt:lpstr>
      <vt:lpstr>PowerPoint Presentation</vt:lpstr>
      <vt:lpstr>PowerPoint Presentation</vt:lpstr>
      <vt:lpstr> Swap Hardware Instruction</vt:lpstr>
      <vt:lpstr>PowerPoint Presentation</vt:lpstr>
      <vt:lpstr>Advantages and Disadvantages of Synchronization Hardware </vt:lpstr>
      <vt:lpstr>Thread in Operating System </vt:lpstr>
      <vt:lpstr>PowerPoint Presentation</vt:lpstr>
      <vt:lpstr>Difference between Process and Thread: </vt:lpstr>
      <vt:lpstr>PowerPoint Presentation</vt:lpstr>
      <vt:lpstr>Types of Threads  </vt:lpstr>
      <vt:lpstr>User Level Threads </vt:lpstr>
      <vt:lpstr>Kernel Level Threads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Bakery Algorithm in  os</dc:title>
  <dc:creator>COISA COMPIU6TERS</dc:creator>
  <cp:lastModifiedBy>COISA COMPIU6TERS</cp:lastModifiedBy>
  <cp:revision>21</cp:revision>
  <dcterms:created xsi:type="dcterms:W3CDTF">2023-11-03T07:58:58Z</dcterms:created>
  <dcterms:modified xsi:type="dcterms:W3CDTF">2023-11-03T11:29:59Z</dcterms:modified>
</cp:coreProperties>
</file>